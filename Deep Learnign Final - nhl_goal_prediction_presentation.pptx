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6" r:id="rId6"/>
    <p:sldId id="260" r:id="rId7"/>
    <p:sldId id="261" r:id="rId8"/>
    <p:sldId id="262" r:id="rId9"/>
    <p:sldId id="263" r:id="rId10"/>
    <p:sldId id="264" r:id="rId11"/>
    <p:sldId id="267" r:id="rId12"/>
    <p:sldId id="268"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5555"/>
    <a:srgbClr val="0A1F1A"/>
    <a:srgbClr val="F2F5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20"/>
    <p:restoredTop sz="94610"/>
  </p:normalViewPr>
  <p:slideViewPr>
    <p:cSldViewPr snapToGrid="0" snapToObjects="1">
      <p:cViewPr varScale="1">
        <p:scale>
          <a:sx n="167" d="100"/>
          <a:sy n="167" d="100"/>
        </p:scale>
        <p:origin x="168"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3164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iliacklein33/Deep-Learning-Final-NHL-Goal-Prediction"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1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A7A6A"/>
          </a:solidFill>
          <a:ln w="12700">
            <a:solidFill>
              <a:srgbClr val="1A7A6A"/>
            </a:solidFill>
            <a:prstDash val="solid"/>
          </a:ln>
        </p:spPr>
        <p:txBody>
          <a:bodyPr/>
          <a:lstStyle/>
          <a:p>
            <a:endParaRPr lang="en-US"/>
          </a:p>
        </p:txBody>
      </p:sp>
      <p:sp>
        <p:nvSpPr>
          <p:cNvPr id="3" name="Text 1"/>
          <p:cNvSpPr/>
          <p:nvPr/>
        </p:nvSpPr>
        <p:spPr>
          <a:xfrm>
            <a:off x="411480" y="1097280"/>
            <a:ext cx="8229600" cy="914400"/>
          </a:xfrm>
          <a:prstGeom prst="rect">
            <a:avLst/>
          </a:prstGeom>
          <a:noFill/>
          <a:ln/>
        </p:spPr>
        <p:txBody>
          <a:bodyPr wrap="square" lIns="0" tIns="0" rIns="0" bIns="0" rtlCol="0" anchor="ctr"/>
          <a:lstStyle/>
          <a:p>
            <a:pPr marL="0" indent="0">
              <a:buNone/>
            </a:pPr>
            <a:r>
              <a:rPr lang="en-US" sz="5200" dirty="0">
                <a:solidFill>
                  <a:srgbClr val="FFFFFF"/>
                </a:solidFill>
                <a:latin typeface="Georgia" pitchFamily="34" charset="0"/>
                <a:ea typeface="Georgia" pitchFamily="34" charset="-122"/>
                <a:cs typeface="Georgia" pitchFamily="34" charset="-120"/>
              </a:rPr>
              <a:t>NHL Goal</a:t>
            </a:r>
            <a:endParaRPr lang="en-US" sz="5200" dirty="0"/>
          </a:p>
        </p:txBody>
      </p:sp>
      <p:sp>
        <p:nvSpPr>
          <p:cNvPr id="4" name="Text 2"/>
          <p:cNvSpPr/>
          <p:nvPr/>
        </p:nvSpPr>
        <p:spPr>
          <a:xfrm>
            <a:off x="411480" y="1920240"/>
            <a:ext cx="8229600" cy="1005840"/>
          </a:xfrm>
          <a:prstGeom prst="rect">
            <a:avLst/>
          </a:prstGeom>
          <a:noFill/>
          <a:ln/>
        </p:spPr>
        <p:txBody>
          <a:bodyPr wrap="square" lIns="0" tIns="0" rIns="0" bIns="0" rtlCol="0" anchor="ctr"/>
          <a:lstStyle/>
          <a:p>
            <a:pPr marL="0" indent="0">
              <a:buNone/>
            </a:pPr>
            <a:r>
              <a:rPr lang="en-US" sz="5200" b="1" dirty="0">
                <a:solidFill>
                  <a:srgbClr val="1A7A6A"/>
                </a:solidFill>
                <a:latin typeface="Georgia" pitchFamily="34" charset="0"/>
                <a:ea typeface="Georgia" pitchFamily="34" charset="-122"/>
                <a:cs typeface="Georgia" pitchFamily="34" charset="-120"/>
              </a:rPr>
              <a:t>Prediction</a:t>
            </a:r>
            <a:endParaRPr lang="en-US" sz="5200" dirty="0"/>
          </a:p>
        </p:txBody>
      </p:sp>
      <p:sp>
        <p:nvSpPr>
          <p:cNvPr id="5" name="Text 3"/>
          <p:cNvSpPr/>
          <p:nvPr/>
        </p:nvSpPr>
        <p:spPr>
          <a:xfrm>
            <a:off x="411480" y="3063240"/>
            <a:ext cx="7315200" cy="457200"/>
          </a:xfrm>
          <a:prstGeom prst="rect">
            <a:avLst/>
          </a:prstGeom>
          <a:noFill/>
          <a:ln/>
        </p:spPr>
        <p:txBody>
          <a:bodyPr wrap="square" lIns="0" tIns="0" rIns="0" bIns="0" rtlCol="0" anchor="ctr"/>
          <a:lstStyle/>
          <a:p>
            <a:pPr marL="0" indent="0">
              <a:buNone/>
            </a:pPr>
            <a:r>
              <a:rPr lang="en-US" sz="1500" dirty="0">
                <a:solidFill>
                  <a:srgbClr val="7A9E99"/>
                </a:solidFill>
                <a:latin typeface="Calibri" pitchFamily="34" charset="0"/>
                <a:ea typeface="Calibri" pitchFamily="34" charset="-122"/>
                <a:cs typeface="Calibri" pitchFamily="34" charset="-120"/>
              </a:rPr>
              <a:t>Does spatial deep learning outperform classical expected goals models?</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92608"/>
            <a:ext cx="4114800" cy="594360"/>
          </a:xfrm>
          <a:prstGeom prst="rect">
            <a:avLst/>
          </a:prstGeom>
          <a:noFill/>
          <a:ln/>
        </p:spPr>
        <p:txBody>
          <a:bodyPr wrap="square" lIns="0" tIns="0" rIns="0" bIns="0" rtlCol="0" anchor="ctr"/>
          <a:lstStyle/>
          <a:p>
            <a:pPr marL="0" indent="0">
              <a:buNone/>
            </a:pPr>
            <a:r>
              <a:rPr lang="en-US" sz="3000" b="1" dirty="0">
                <a:solidFill>
                  <a:srgbClr val="0B1F1A"/>
                </a:solidFill>
                <a:latin typeface="Georgia" pitchFamily="34" charset="0"/>
                <a:ea typeface="Georgia" pitchFamily="34" charset="-122"/>
                <a:cs typeface="Georgia" pitchFamily="34" charset="-120"/>
              </a:rPr>
              <a:t>The Problem</a:t>
            </a:r>
            <a:endParaRPr lang="en-US" sz="3000" dirty="0"/>
          </a:p>
        </p:txBody>
      </p:sp>
      <p:sp>
        <p:nvSpPr>
          <p:cNvPr id="3" name="Text 1"/>
          <p:cNvSpPr/>
          <p:nvPr/>
        </p:nvSpPr>
        <p:spPr>
          <a:xfrm>
            <a:off x="502920" y="1005840"/>
            <a:ext cx="3931920" cy="3840480"/>
          </a:xfrm>
          <a:prstGeom prst="rect">
            <a:avLst/>
          </a:prstGeom>
          <a:noFill/>
          <a:ln/>
        </p:spPr>
        <p:txBody>
          <a:bodyPr wrap="square" lIns="0" tIns="0" rIns="0" bIns="0" rtlCol="0" anchor="t"/>
          <a:lstStyle/>
          <a:p>
            <a:pPr marL="0" indent="0">
              <a:buNone/>
            </a:pPr>
            <a:r>
              <a:rPr lang="en-US" sz="1350" dirty="0">
                <a:solidFill>
                  <a:srgbClr val="333333"/>
                </a:solidFill>
                <a:latin typeface="Calibri" pitchFamily="34" charset="0"/>
                <a:ea typeface="Calibri" pitchFamily="34" charset="-122"/>
                <a:cs typeface="Calibri" pitchFamily="34" charset="-120"/>
              </a:rPr>
              <a:t>In hockey analytics, not all shots are created equal.</a:t>
            </a:r>
            <a:endParaRPr lang="en-US" sz="1350" dirty="0"/>
          </a:p>
          <a:p>
            <a:pPr marL="0" indent="0">
              <a:buNone/>
            </a:pPr>
            <a:r>
              <a:rPr lang="en-US" sz="1350" dirty="0">
                <a:solidFill>
                  <a:srgbClr val="333333"/>
                </a:solidFill>
                <a:latin typeface="Calibri" pitchFamily="34" charset="0"/>
                <a:ea typeface="Calibri" pitchFamily="34" charset="-122"/>
                <a:cs typeface="Calibri" pitchFamily="34" charset="-120"/>
              </a:rPr>
              <a:t> </a:t>
            </a:r>
            <a:endParaRPr lang="en-US" sz="1350" dirty="0"/>
          </a:p>
          <a:p>
            <a:pPr marL="0" indent="0">
              <a:buNone/>
            </a:pPr>
            <a:r>
              <a:rPr lang="en-US" sz="1350" dirty="0">
                <a:solidFill>
                  <a:srgbClr val="333333"/>
                </a:solidFill>
                <a:latin typeface="Calibri" pitchFamily="34" charset="0"/>
                <a:ea typeface="Calibri" pitchFamily="34" charset="-122"/>
                <a:cs typeface="Calibri" pitchFamily="34" charset="-120"/>
              </a:rPr>
              <a:t>A shot from the slot directly in front of the net is far more dangerous than a low-percentage attempt from the blue line. Quantifying that difference is the foundation of expected goals (xG) modeling.</a:t>
            </a:r>
            <a:endParaRPr lang="en-US" sz="1350" dirty="0"/>
          </a:p>
          <a:p>
            <a:pPr marL="0" indent="0">
              <a:buNone/>
            </a:pPr>
            <a:r>
              <a:rPr lang="en-US" sz="1350" dirty="0">
                <a:solidFill>
                  <a:srgbClr val="333333"/>
                </a:solidFill>
                <a:latin typeface="Calibri" pitchFamily="34" charset="0"/>
                <a:ea typeface="Calibri" pitchFamily="34" charset="-122"/>
                <a:cs typeface="Calibri" pitchFamily="34" charset="-120"/>
              </a:rPr>
              <a:t> </a:t>
            </a:r>
            <a:endParaRPr lang="en-US" sz="1350" dirty="0"/>
          </a:p>
          <a:p>
            <a:pPr marL="0" indent="0">
              <a:buNone/>
            </a:pPr>
            <a:r>
              <a:rPr lang="en-US" sz="1350" b="1" dirty="0">
                <a:solidFill>
                  <a:srgbClr val="333333"/>
                </a:solidFill>
                <a:latin typeface="Calibri" pitchFamily="34" charset="0"/>
                <a:ea typeface="Calibri" pitchFamily="34" charset="-122"/>
                <a:cs typeface="Calibri" pitchFamily="34" charset="-120"/>
              </a:rPr>
              <a:t>The core question:</a:t>
            </a:r>
            <a:endParaRPr lang="en-US" sz="1350" dirty="0"/>
          </a:p>
          <a:p>
            <a:pPr marL="0" indent="0">
              <a:buNone/>
            </a:pPr>
            <a:r>
              <a:rPr lang="en-US" sz="1350" dirty="0">
                <a:solidFill>
                  <a:srgbClr val="333333"/>
                </a:solidFill>
                <a:latin typeface="Calibri" pitchFamily="34" charset="0"/>
                <a:ea typeface="Calibri" pitchFamily="34" charset="-122"/>
                <a:cs typeface="Calibri" pitchFamily="34" charset="-120"/>
              </a:rPr>
              <a:t>Can a CNN that explicitly models spatial structure on the ice outperform classical approaches that rely on engineered features like distance and angle?</a:t>
            </a:r>
          </a:p>
          <a:p>
            <a:pPr marL="0" indent="0">
              <a:buNone/>
            </a:pPr>
            <a:endParaRPr lang="en-US" sz="1350" dirty="0">
              <a:solidFill>
                <a:srgbClr val="333333"/>
              </a:solidFill>
              <a:latin typeface="Calibri" pitchFamily="34" charset="0"/>
              <a:ea typeface="Calibri" pitchFamily="34" charset="-122"/>
              <a:cs typeface="Calibri" pitchFamily="34" charset="-120"/>
            </a:endParaRPr>
          </a:p>
          <a:p>
            <a:pPr marL="0" indent="0">
              <a:buNone/>
            </a:pPr>
            <a:endParaRPr lang="en-US" sz="1350" dirty="0">
              <a:solidFill>
                <a:srgbClr val="333333"/>
              </a:solidFill>
              <a:latin typeface="Calibri" pitchFamily="34" charset="0"/>
              <a:ea typeface="Calibri" pitchFamily="34" charset="-122"/>
              <a:cs typeface="Calibri" pitchFamily="34" charset="-120"/>
            </a:endParaRPr>
          </a:p>
          <a:p>
            <a:pPr marL="0" indent="0">
              <a:buNone/>
            </a:pPr>
            <a:br>
              <a:rPr lang="en-US" sz="1350" dirty="0">
                <a:solidFill>
                  <a:srgbClr val="333333"/>
                </a:solidFill>
                <a:latin typeface="Calibri" pitchFamily="34" charset="0"/>
                <a:ea typeface="Calibri" pitchFamily="34" charset="-122"/>
                <a:cs typeface="Calibri" pitchFamily="34" charset="-120"/>
              </a:rPr>
            </a:br>
            <a:endParaRPr lang="en-US" sz="1350" dirty="0">
              <a:solidFill>
                <a:srgbClr val="333333"/>
              </a:solidFill>
              <a:latin typeface="Calibri" pitchFamily="34" charset="0"/>
              <a:ea typeface="Calibri" pitchFamily="34" charset="-122"/>
              <a:cs typeface="Calibri" pitchFamily="34" charset="-120"/>
            </a:endParaRPr>
          </a:p>
          <a:p>
            <a:pPr marL="0" indent="0">
              <a:buNone/>
            </a:pPr>
            <a:endParaRPr lang="en-US" sz="1350" dirty="0">
              <a:solidFill>
                <a:srgbClr val="333333"/>
              </a:solidFill>
              <a:latin typeface="Calibri" pitchFamily="34" charset="0"/>
              <a:cs typeface="Calibri" pitchFamily="34" charset="-120"/>
            </a:endParaRPr>
          </a:p>
          <a:p>
            <a:pPr marL="0" indent="0">
              <a:buNone/>
            </a:pPr>
            <a:endParaRPr lang="en-US" sz="1350" dirty="0">
              <a:solidFill>
                <a:srgbClr val="333333"/>
              </a:solidFill>
              <a:latin typeface="Calibri" pitchFamily="34" charset="0"/>
              <a:cs typeface="Calibri" pitchFamily="34" charset="-120"/>
            </a:endParaRPr>
          </a:p>
          <a:p>
            <a:r>
              <a:rPr lang="en-US" sz="1350" dirty="0">
                <a:hlinkClick r:id="rId3"/>
              </a:rPr>
              <a:t>Github</a:t>
            </a:r>
            <a:r>
              <a:rPr lang="en-US" sz="1350">
                <a:hlinkClick r:id="rId3"/>
              </a:rPr>
              <a:t> Link</a:t>
            </a:r>
            <a:endParaRPr lang="en-US" sz="1350" dirty="0"/>
          </a:p>
          <a:p>
            <a:pPr marL="0" indent="0">
              <a:buNone/>
            </a:pPr>
            <a:endParaRPr lang="en-US" sz="1350" dirty="0"/>
          </a:p>
        </p:txBody>
      </p:sp>
      <p:sp>
        <p:nvSpPr>
          <p:cNvPr id="4" name="Shape 2"/>
          <p:cNvSpPr/>
          <p:nvPr/>
        </p:nvSpPr>
        <p:spPr>
          <a:xfrm>
            <a:off x="4754880" y="0"/>
            <a:ext cx="4389120" cy="5143500"/>
          </a:xfrm>
          <a:prstGeom prst="rect">
            <a:avLst/>
          </a:prstGeom>
          <a:solidFill>
            <a:srgbClr val="0B1F1A"/>
          </a:solidFill>
          <a:ln w="12700">
            <a:solidFill>
              <a:srgbClr val="0B1F1A"/>
            </a:solidFill>
            <a:prstDash val="solid"/>
          </a:ln>
        </p:spPr>
        <p:txBody>
          <a:bodyPr/>
          <a:lstStyle/>
          <a:p>
            <a:endParaRPr lang="en-US"/>
          </a:p>
        </p:txBody>
      </p:sp>
      <p:sp>
        <p:nvSpPr>
          <p:cNvPr id="5" name="Shape 3"/>
          <p:cNvSpPr/>
          <p:nvPr/>
        </p:nvSpPr>
        <p:spPr>
          <a:xfrm>
            <a:off x="4572000" y="0"/>
            <a:ext cx="36576" cy="5143500"/>
          </a:xfrm>
          <a:prstGeom prst="rect">
            <a:avLst/>
          </a:prstGeom>
          <a:solidFill>
            <a:srgbClr val="1A7A6A"/>
          </a:solidFill>
          <a:ln w="12700">
            <a:solidFill>
              <a:srgbClr val="1A7A6A"/>
            </a:solidFill>
            <a:prstDash val="solid"/>
          </a:ln>
        </p:spPr>
        <p:txBody>
          <a:bodyPr/>
          <a:lstStyle/>
          <a:p>
            <a:endParaRPr lang="en-US"/>
          </a:p>
        </p:txBody>
      </p:sp>
      <p:sp>
        <p:nvSpPr>
          <p:cNvPr id="6" name="Text 4"/>
          <p:cNvSpPr/>
          <p:nvPr/>
        </p:nvSpPr>
        <p:spPr>
          <a:xfrm>
            <a:off x="4983480" y="1005840"/>
            <a:ext cx="3840480" cy="2926080"/>
          </a:xfrm>
          <a:prstGeom prst="rect">
            <a:avLst/>
          </a:prstGeom>
          <a:noFill/>
          <a:ln/>
        </p:spPr>
        <p:txBody>
          <a:bodyPr wrap="square" lIns="0" tIns="0" rIns="0" bIns="0" rtlCol="0" anchor="ctr"/>
          <a:lstStyle/>
          <a:p>
            <a:pPr marL="0" indent="0" algn="l">
              <a:buNone/>
            </a:pPr>
            <a:r>
              <a:rPr lang="en-US" sz="3000" b="1" dirty="0">
                <a:solidFill>
                  <a:srgbClr val="1A7A6A"/>
                </a:solidFill>
                <a:latin typeface="Georgia" pitchFamily="34" charset="0"/>
                <a:ea typeface="Georgia" pitchFamily="34" charset="-122"/>
                <a:cs typeface="Georgia" pitchFamily="34" charset="-120"/>
              </a:rPr>
              <a:t>Does where</a:t>
            </a:r>
            <a:endParaRPr lang="en-US" sz="3000" dirty="0"/>
          </a:p>
          <a:p>
            <a:pPr marL="0" indent="0" algn="l">
              <a:buNone/>
            </a:pPr>
            <a:r>
              <a:rPr lang="en-US" sz="3000" b="1" dirty="0">
                <a:solidFill>
                  <a:srgbClr val="1A7A6A"/>
                </a:solidFill>
                <a:latin typeface="Georgia" pitchFamily="34" charset="0"/>
                <a:ea typeface="Georgia" pitchFamily="34" charset="-122"/>
                <a:cs typeface="Georgia" pitchFamily="34" charset="-120"/>
              </a:rPr>
              <a:t>you shoot</a:t>
            </a:r>
            <a:endParaRPr lang="en-US" sz="3000" dirty="0"/>
          </a:p>
          <a:p>
            <a:pPr marL="0" indent="0" algn="l">
              <a:buNone/>
            </a:pPr>
            <a:r>
              <a:rPr lang="en-US" sz="3000" b="1" dirty="0">
                <a:solidFill>
                  <a:srgbClr val="1A7A6A"/>
                </a:solidFill>
                <a:latin typeface="Georgia" pitchFamily="34" charset="0"/>
                <a:ea typeface="Georgia" pitchFamily="34" charset="-122"/>
                <a:cs typeface="Georgia" pitchFamily="34" charset="-120"/>
              </a:rPr>
              <a:t>matter more</a:t>
            </a:r>
            <a:endParaRPr lang="en-US" sz="3000" dirty="0"/>
          </a:p>
          <a:p>
            <a:pPr marL="0" indent="0" algn="l">
              <a:buNone/>
            </a:pPr>
            <a:r>
              <a:rPr lang="en-US" sz="3000" b="1" dirty="0">
                <a:solidFill>
                  <a:srgbClr val="1A7A6A"/>
                </a:solidFill>
                <a:latin typeface="Georgia" pitchFamily="34" charset="0"/>
                <a:ea typeface="Georgia" pitchFamily="34" charset="-122"/>
                <a:cs typeface="Georgia" pitchFamily="34" charset="-120"/>
              </a:rPr>
              <a:t>than how</a:t>
            </a:r>
            <a:endParaRPr lang="en-US" sz="3000" dirty="0"/>
          </a:p>
          <a:p>
            <a:pPr marL="0" indent="0" algn="l">
              <a:buNone/>
            </a:pPr>
            <a:r>
              <a:rPr lang="en-US" sz="3000" b="1" dirty="0">
                <a:solidFill>
                  <a:srgbClr val="1A7A6A"/>
                </a:solidFill>
                <a:latin typeface="Georgia" pitchFamily="34" charset="0"/>
                <a:ea typeface="Georgia" pitchFamily="34" charset="-122"/>
                <a:cs typeface="Georgia" pitchFamily="34" charset="-120"/>
              </a:rPr>
              <a:t>you shoot?</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594360"/>
          </a:xfrm>
          <a:prstGeom prst="rect">
            <a:avLst/>
          </a:prstGeom>
          <a:noFill/>
          <a:ln/>
        </p:spPr>
        <p:txBody>
          <a:bodyPr wrap="square" lIns="0" tIns="0" rIns="0" bIns="0" rtlCol="0" anchor="ctr"/>
          <a:lstStyle/>
          <a:p>
            <a:pPr marL="0" indent="0">
              <a:buNone/>
            </a:pPr>
            <a:r>
              <a:rPr lang="en-US" sz="2800" b="1" dirty="0">
                <a:solidFill>
                  <a:srgbClr val="0B1F1A"/>
                </a:solidFill>
                <a:latin typeface="Georgia" pitchFamily="34" charset="0"/>
                <a:ea typeface="Georgia" pitchFamily="34" charset="-122"/>
                <a:cs typeface="Georgia" pitchFamily="34" charset="-120"/>
              </a:rPr>
              <a:t>Three Models, One Question</a:t>
            </a:r>
            <a:endParaRPr lang="en-US" sz="2800" dirty="0"/>
          </a:p>
        </p:txBody>
      </p:sp>
      <p:sp>
        <p:nvSpPr>
          <p:cNvPr id="3" name="Text 1"/>
          <p:cNvSpPr/>
          <p:nvPr/>
        </p:nvSpPr>
        <p:spPr>
          <a:xfrm>
            <a:off x="502920" y="886968"/>
            <a:ext cx="8229600" cy="347472"/>
          </a:xfrm>
          <a:prstGeom prst="rect">
            <a:avLst/>
          </a:prstGeom>
          <a:noFill/>
          <a:ln/>
        </p:spPr>
        <p:txBody>
          <a:bodyPr wrap="square" lIns="0" tIns="0" rIns="0" bIns="0" rtlCol="0" anchor="ctr"/>
          <a:lstStyle/>
          <a:p>
            <a:pPr marL="0" indent="0">
              <a:buNone/>
            </a:pPr>
            <a:r>
              <a:rPr lang="en-US" sz="1300" i="1" dirty="0">
                <a:solidFill>
                  <a:srgbClr val="555555"/>
                </a:solidFill>
                <a:latin typeface="Calibri" pitchFamily="34" charset="0"/>
                <a:ea typeface="Calibri" pitchFamily="34" charset="-122"/>
                <a:cs typeface="Calibri" pitchFamily="34" charset="-120"/>
              </a:rPr>
              <a:t>Each model adds capacity. The question is whether that capacity translates to better predictions.</a:t>
            </a:r>
            <a:endParaRPr lang="en-US" sz="1300" dirty="0">
              <a:solidFill>
                <a:srgbClr val="555555"/>
              </a:solidFill>
            </a:endParaRPr>
          </a:p>
        </p:txBody>
      </p:sp>
      <p:sp>
        <p:nvSpPr>
          <p:cNvPr id="4" name="Shape 2"/>
          <p:cNvSpPr/>
          <p:nvPr/>
        </p:nvSpPr>
        <p:spPr>
          <a:xfrm>
            <a:off x="1280160" y="2606040"/>
            <a:ext cx="6583680" cy="27432"/>
          </a:xfrm>
          <a:prstGeom prst="rect">
            <a:avLst/>
          </a:prstGeom>
          <a:solidFill>
            <a:srgbClr val="DDEAE8"/>
          </a:solidFill>
          <a:ln w="12700">
            <a:solidFill>
              <a:srgbClr val="DDEAE8"/>
            </a:solidFill>
            <a:prstDash val="solid"/>
          </a:ln>
        </p:spPr>
        <p:txBody>
          <a:bodyPr/>
          <a:lstStyle/>
          <a:p>
            <a:endParaRPr lang="en-US"/>
          </a:p>
        </p:txBody>
      </p:sp>
      <p:sp>
        <p:nvSpPr>
          <p:cNvPr id="5" name="Text 3"/>
          <p:cNvSpPr/>
          <p:nvPr/>
        </p:nvSpPr>
        <p:spPr>
          <a:xfrm>
            <a:off x="502920" y="1371600"/>
            <a:ext cx="2560320" cy="822960"/>
          </a:xfrm>
          <a:prstGeom prst="rect">
            <a:avLst/>
          </a:prstGeom>
          <a:noFill/>
          <a:ln/>
        </p:spPr>
        <p:txBody>
          <a:bodyPr wrap="square" lIns="0" tIns="0" rIns="0" bIns="0" rtlCol="0" anchor="ctr"/>
          <a:lstStyle/>
          <a:p>
            <a:pPr marL="0" indent="0">
              <a:buNone/>
            </a:pPr>
            <a:r>
              <a:rPr lang="en-US" sz="4400" b="1" dirty="0">
                <a:solidFill>
                  <a:srgbClr val="7A9E99"/>
                </a:solidFill>
                <a:latin typeface="Georgia" pitchFamily="34" charset="0"/>
                <a:ea typeface="Georgia" pitchFamily="34" charset="-122"/>
                <a:cs typeface="Georgia" pitchFamily="34" charset="-120"/>
              </a:rPr>
              <a:t>01</a:t>
            </a:r>
            <a:endParaRPr lang="en-US" sz="4400" dirty="0"/>
          </a:p>
        </p:txBody>
      </p:sp>
      <p:sp>
        <p:nvSpPr>
          <p:cNvPr id="6" name="Shape 4"/>
          <p:cNvSpPr/>
          <p:nvPr/>
        </p:nvSpPr>
        <p:spPr>
          <a:xfrm>
            <a:off x="1097280" y="2487168"/>
            <a:ext cx="237744" cy="237744"/>
          </a:xfrm>
          <a:prstGeom prst="ellipse">
            <a:avLst/>
          </a:prstGeom>
          <a:solidFill>
            <a:srgbClr val="7A9E99"/>
          </a:solidFill>
          <a:ln w="12700">
            <a:solidFill>
              <a:srgbClr val="7A9E99"/>
            </a:solidFill>
            <a:prstDash val="solid"/>
          </a:ln>
        </p:spPr>
        <p:txBody>
          <a:bodyPr/>
          <a:lstStyle/>
          <a:p>
            <a:endParaRPr lang="en-US"/>
          </a:p>
        </p:txBody>
      </p:sp>
      <p:sp>
        <p:nvSpPr>
          <p:cNvPr id="7" name="Text 5"/>
          <p:cNvSpPr/>
          <p:nvPr/>
        </p:nvSpPr>
        <p:spPr>
          <a:xfrm>
            <a:off x="502920" y="2788920"/>
            <a:ext cx="2560320" cy="411480"/>
          </a:xfrm>
          <a:prstGeom prst="rect">
            <a:avLst/>
          </a:prstGeom>
          <a:noFill/>
          <a:ln/>
        </p:spPr>
        <p:txBody>
          <a:bodyPr wrap="square" lIns="0" tIns="0" rIns="0" bIns="0" rtlCol="0" anchor="ctr"/>
          <a:lstStyle/>
          <a:p>
            <a:pPr marL="0" indent="0">
              <a:buNone/>
            </a:pPr>
            <a:r>
              <a:rPr lang="en-US" sz="1700" b="1" dirty="0">
                <a:solidFill>
                  <a:srgbClr val="0B1F1A"/>
                </a:solidFill>
                <a:latin typeface="Calibri" pitchFamily="34" charset="0"/>
                <a:ea typeface="Calibri" pitchFamily="34" charset="-122"/>
                <a:cs typeface="Calibri" pitchFamily="34" charset="-120"/>
              </a:rPr>
              <a:t>Logistic Regression</a:t>
            </a:r>
            <a:endParaRPr lang="en-US" sz="1700" dirty="0"/>
          </a:p>
        </p:txBody>
      </p:sp>
      <p:sp>
        <p:nvSpPr>
          <p:cNvPr id="8" name="Text 6"/>
          <p:cNvSpPr/>
          <p:nvPr/>
        </p:nvSpPr>
        <p:spPr>
          <a:xfrm>
            <a:off x="502920" y="3200400"/>
            <a:ext cx="2560320" cy="685800"/>
          </a:xfrm>
          <a:prstGeom prst="rect">
            <a:avLst/>
          </a:prstGeom>
          <a:noFill/>
          <a:ln/>
        </p:spPr>
        <p:txBody>
          <a:bodyPr wrap="square" lIns="0" tIns="0" rIns="0" bIns="0" rtlCol="0" anchor="ctr"/>
          <a:lstStyle/>
          <a:p>
            <a:pPr marL="0" indent="0">
              <a:buNone/>
            </a:pPr>
            <a:r>
              <a:rPr lang="en-US" sz="1300" i="1" dirty="0">
                <a:solidFill>
                  <a:srgbClr val="7A9E99"/>
                </a:solidFill>
                <a:latin typeface="Calibri" pitchFamily="34" charset="0"/>
                <a:ea typeface="Calibri" pitchFamily="34" charset="-122"/>
                <a:cs typeface="Calibri" pitchFamily="34" charset="-120"/>
              </a:rPr>
              <a:t>Classic xG</a:t>
            </a:r>
            <a:endParaRPr lang="en-US" sz="1300" dirty="0"/>
          </a:p>
          <a:p>
            <a:pPr marL="0" indent="0">
              <a:buNone/>
            </a:pPr>
            <a:r>
              <a:rPr lang="en-US" sz="1300" i="1" dirty="0">
                <a:solidFill>
                  <a:srgbClr val="7A9E99"/>
                </a:solidFill>
                <a:latin typeface="Calibri" pitchFamily="34" charset="0"/>
                <a:ea typeface="Calibri" pitchFamily="34" charset="-122"/>
                <a:cs typeface="Calibri" pitchFamily="34" charset="-120"/>
              </a:rPr>
              <a:t>baseline</a:t>
            </a:r>
            <a:endParaRPr lang="en-US" sz="1300" dirty="0"/>
          </a:p>
        </p:txBody>
      </p:sp>
      <p:sp>
        <p:nvSpPr>
          <p:cNvPr id="9" name="Text 7"/>
          <p:cNvSpPr/>
          <p:nvPr/>
        </p:nvSpPr>
        <p:spPr>
          <a:xfrm>
            <a:off x="502920" y="3931920"/>
            <a:ext cx="2560320" cy="914400"/>
          </a:xfrm>
          <a:prstGeom prst="rect">
            <a:avLst/>
          </a:prstGeom>
          <a:noFill/>
          <a:ln/>
        </p:spPr>
        <p:txBody>
          <a:bodyPr wrap="square" lIns="0" tIns="0" rIns="0" bIns="0" rtlCol="0" anchor="t"/>
          <a:lstStyle/>
          <a:p>
            <a:pPr marL="0" indent="0">
              <a:buNone/>
            </a:pPr>
            <a:r>
              <a:rPr lang="en-US" sz="1200" dirty="0">
                <a:solidFill>
                  <a:srgbClr val="555555"/>
                </a:solidFill>
                <a:latin typeface="Calibri" pitchFamily="34" charset="0"/>
                <a:ea typeface="Calibri" pitchFamily="34" charset="-122"/>
                <a:cs typeface="Calibri" pitchFamily="34" charset="-120"/>
              </a:rPr>
              <a:t>Distance + angle only. Linear relationship assumed. Surprisingly strong.</a:t>
            </a:r>
            <a:endParaRPr lang="en-US" sz="1200" dirty="0"/>
          </a:p>
        </p:txBody>
      </p:sp>
      <p:sp>
        <p:nvSpPr>
          <p:cNvPr id="10" name="Text 8"/>
          <p:cNvSpPr/>
          <p:nvPr/>
        </p:nvSpPr>
        <p:spPr>
          <a:xfrm>
            <a:off x="3337560" y="1371600"/>
            <a:ext cx="2560320" cy="822960"/>
          </a:xfrm>
          <a:prstGeom prst="rect">
            <a:avLst/>
          </a:prstGeom>
          <a:noFill/>
          <a:ln/>
        </p:spPr>
        <p:txBody>
          <a:bodyPr wrap="square" lIns="0" tIns="0" rIns="0" bIns="0" rtlCol="0" anchor="ctr"/>
          <a:lstStyle/>
          <a:p>
            <a:pPr marL="0" indent="0">
              <a:buNone/>
            </a:pPr>
            <a:r>
              <a:rPr lang="en-US" sz="4400" b="1" dirty="0">
                <a:solidFill>
                  <a:srgbClr val="1A7A6A"/>
                </a:solidFill>
                <a:latin typeface="Georgia" pitchFamily="34" charset="0"/>
                <a:ea typeface="Georgia" pitchFamily="34" charset="-122"/>
                <a:cs typeface="Georgia" pitchFamily="34" charset="-120"/>
              </a:rPr>
              <a:t>02</a:t>
            </a:r>
            <a:endParaRPr lang="en-US" sz="4400" dirty="0"/>
          </a:p>
        </p:txBody>
      </p:sp>
      <p:sp>
        <p:nvSpPr>
          <p:cNvPr id="11" name="Shape 9"/>
          <p:cNvSpPr/>
          <p:nvPr/>
        </p:nvSpPr>
        <p:spPr>
          <a:xfrm>
            <a:off x="3931920" y="2487168"/>
            <a:ext cx="237744" cy="237744"/>
          </a:xfrm>
          <a:prstGeom prst="ellipse">
            <a:avLst/>
          </a:prstGeom>
          <a:solidFill>
            <a:srgbClr val="1A7A6A"/>
          </a:solidFill>
          <a:ln w="12700">
            <a:solidFill>
              <a:srgbClr val="1A7A6A"/>
            </a:solidFill>
            <a:prstDash val="solid"/>
          </a:ln>
        </p:spPr>
        <p:txBody>
          <a:bodyPr/>
          <a:lstStyle/>
          <a:p>
            <a:endParaRPr lang="en-US"/>
          </a:p>
        </p:txBody>
      </p:sp>
      <p:sp>
        <p:nvSpPr>
          <p:cNvPr id="12" name="Text 10"/>
          <p:cNvSpPr/>
          <p:nvPr/>
        </p:nvSpPr>
        <p:spPr>
          <a:xfrm>
            <a:off x="3337560" y="2788920"/>
            <a:ext cx="2560320" cy="411480"/>
          </a:xfrm>
          <a:prstGeom prst="rect">
            <a:avLst/>
          </a:prstGeom>
          <a:noFill/>
          <a:ln/>
        </p:spPr>
        <p:txBody>
          <a:bodyPr wrap="square" lIns="0" tIns="0" rIns="0" bIns="0" rtlCol="0" anchor="ctr"/>
          <a:lstStyle/>
          <a:p>
            <a:pPr marL="0" indent="0">
              <a:buNone/>
            </a:pPr>
            <a:r>
              <a:rPr lang="en-US" sz="1700" b="1" dirty="0">
                <a:solidFill>
                  <a:srgbClr val="0B1F1A"/>
                </a:solidFill>
                <a:latin typeface="Calibri" pitchFamily="34" charset="0"/>
                <a:ea typeface="Calibri" pitchFamily="34" charset="-122"/>
                <a:cs typeface="Calibri" pitchFamily="34" charset="-120"/>
              </a:rPr>
              <a:t>MLP</a:t>
            </a:r>
            <a:endParaRPr lang="en-US" sz="1700" dirty="0"/>
          </a:p>
        </p:txBody>
      </p:sp>
      <p:sp>
        <p:nvSpPr>
          <p:cNvPr id="13" name="Text 11"/>
          <p:cNvSpPr/>
          <p:nvPr/>
        </p:nvSpPr>
        <p:spPr>
          <a:xfrm>
            <a:off x="3337560" y="3200400"/>
            <a:ext cx="2560320" cy="685800"/>
          </a:xfrm>
          <a:prstGeom prst="rect">
            <a:avLst/>
          </a:prstGeom>
          <a:noFill/>
          <a:ln/>
        </p:spPr>
        <p:txBody>
          <a:bodyPr wrap="square" lIns="0" tIns="0" rIns="0" bIns="0" rtlCol="0" anchor="ctr"/>
          <a:lstStyle/>
          <a:p>
            <a:pPr marL="0" indent="0">
              <a:buNone/>
            </a:pPr>
            <a:r>
              <a:rPr lang="en-US" sz="1300" i="1" dirty="0">
                <a:solidFill>
                  <a:srgbClr val="1A7A6A"/>
                </a:solidFill>
                <a:latin typeface="Calibri" pitchFamily="34" charset="0"/>
                <a:ea typeface="Calibri" pitchFamily="34" charset="-122"/>
                <a:cs typeface="Calibri" pitchFamily="34" charset="-120"/>
              </a:rPr>
              <a:t>Tabular nonlinear</a:t>
            </a:r>
            <a:endParaRPr lang="en-US" sz="1300" dirty="0"/>
          </a:p>
          <a:p>
            <a:pPr marL="0" indent="0">
              <a:buNone/>
            </a:pPr>
            <a:r>
              <a:rPr lang="en-US" sz="1300" i="1" dirty="0">
                <a:solidFill>
                  <a:srgbClr val="1A7A6A"/>
                </a:solidFill>
                <a:latin typeface="Calibri" pitchFamily="34" charset="0"/>
                <a:ea typeface="Calibri" pitchFamily="34" charset="-122"/>
                <a:cs typeface="Calibri" pitchFamily="34" charset="-120"/>
              </a:rPr>
              <a:t>model</a:t>
            </a:r>
            <a:endParaRPr lang="en-US" sz="1300" dirty="0"/>
          </a:p>
        </p:txBody>
      </p:sp>
      <p:sp>
        <p:nvSpPr>
          <p:cNvPr id="14" name="Text 12"/>
          <p:cNvSpPr/>
          <p:nvPr/>
        </p:nvSpPr>
        <p:spPr>
          <a:xfrm>
            <a:off x="3337560" y="3931920"/>
            <a:ext cx="2560320" cy="914400"/>
          </a:xfrm>
          <a:prstGeom prst="rect">
            <a:avLst/>
          </a:prstGeom>
          <a:noFill/>
          <a:ln/>
        </p:spPr>
        <p:txBody>
          <a:bodyPr wrap="square" lIns="0" tIns="0" rIns="0" bIns="0" rtlCol="0" anchor="t"/>
          <a:lstStyle/>
          <a:p>
            <a:pPr marL="0" indent="0">
              <a:buNone/>
            </a:pPr>
            <a:r>
              <a:rPr lang="en-US" sz="1200" dirty="0">
                <a:solidFill>
                  <a:srgbClr val="555555"/>
                </a:solidFill>
                <a:latin typeface="Calibri" pitchFamily="34" charset="0"/>
                <a:ea typeface="Calibri" pitchFamily="34" charset="-122"/>
                <a:cs typeface="Calibri" pitchFamily="34" charset="-120"/>
              </a:rPr>
              <a:t>Same features, more capacity. Can it learn distance × angle interactions?</a:t>
            </a:r>
            <a:endParaRPr lang="en-US" sz="1200" dirty="0"/>
          </a:p>
        </p:txBody>
      </p:sp>
      <p:sp>
        <p:nvSpPr>
          <p:cNvPr id="15" name="Text 13"/>
          <p:cNvSpPr/>
          <p:nvPr/>
        </p:nvSpPr>
        <p:spPr>
          <a:xfrm>
            <a:off x="6172200" y="1371600"/>
            <a:ext cx="2560320" cy="822960"/>
          </a:xfrm>
          <a:prstGeom prst="rect">
            <a:avLst/>
          </a:prstGeom>
          <a:noFill/>
          <a:ln/>
        </p:spPr>
        <p:txBody>
          <a:bodyPr wrap="square" lIns="0" tIns="0" rIns="0" bIns="0" rtlCol="0" anchor="ctr"/>
          <a:lstStyle/>
          <a:p>
            <a:pPr marL="0" indent="0">
              <a:buNone/>
            </a:pPr>
            <a:r>
              <a:rPr lang="en-US" sz="4400" b="1" dirty="0">
                <a:solidFill>
                  <a:srgbClr val="C0392B"/>
                </a:solidFill>
                <a:latin typeface="Georgia" pitchFamily="34" charset="0"/>
                <a:ea typeface="Georgia" pitchFamily="34" charset="-122"/>
                <a:cs typeface="Georgia" pitchFamily="34" charset="-120"/>
              </a:rPr>
              <a:t>03</a:t>
            </a:r>
            <a:endParaRPr lang="en-US" sz="4400" dirty="0"/>
          </a:p>
        </p:txBody>
      </p:sp>
      <p:sp>
        <p:nvSpPr>
          <p:cNvPr id="16" name="Shape 14"/>
          <p:cNvSpPr/>
          <p:nvPr/>
        </p:nvSpPr>
        <p:spPr>
          <a:xfrm>
            <a:off x="6766560" y="2487168"/>
            <a:ext cx="237744" cy="237744"/>
          </a:xfrm>
          <a:prstGeom prst="ellipse">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6172200" y="2788920"/>
            <a:ext cx="2560320" cy="411480"/>
          </a:xfrm>
          <a:prstGeom prst="rect">
            <a:avLst/>
          </a:prstGeom>
          <a:noFill/>
          <a:ln/>
        </p:spPr>
        <p:txBody>
          <a:bodyPr wrap="square" lIns="0" tIns="0" rIns="0" bIns="0" rtlCol="0" anchor="ctr"/>
          <a:lstStyle/>
          <a:p>
            <a:pPr marL="0" indent="0">
              <a:buNone/>
            </a:pPr>
            <a:r>
              <a:rPr lang="en-US" sz="1700" b="1" dirty="0">
                <a:solidFill>
                  <a:srgbClr val="0B1F1A"/>
                </a:solidFill>
                <a:latin typeface="Calibri" pitchFamily="34" charset="0"/>
                <a:ea typeface="Calibri" pitchFamily="34" charset="-122"/>
                <a:cs typeface="Calibri" pitchFamily="34" charset="-120"/>
              </a:rPr>
              <a:t>Spatial CNN</a:t>
            </a:r>
            <a:endParaRPr lang="en-US" sz="1700" dirty="0"/>
          </a:p>
        </p:txBody>
      </p:sp>
      <p:sp>
        <p:nvSpPr>
          <p:cNvPr id="18" name="Text 16"/>
          <p:cNvSpPr/>
          <p:nvPr/>
        </p:nvSpPr>
        <p:spPr>
          <a:xfrm>
            <a:off x="6172200" y="3200400"/>
            <a:ext cx="2560320" cy="685800"/>
          </a:xfrm>
          <a:prstGeom prst="rect">
            <a:avLst/>
          </a:prstGeom>
          <a:noFill/>
          <a:ln/>
        </p:spPr>
        <p:txBody>
          <a:bodyPr wrap="square" lIns="0" tIns="0" rIns="0" bIns="0" rtlCol="0" anchor="ctr"/>
          <a:lstStyle/>
          <a:p>
            <a:pPr marL="0" indent="0">
              <a:buNone/>
            </a:pPr>
            <a:r>
              <a:rPr lang="en-US" sz="1300" i="1" dirty="0">
                <a:solidFill>
                  <a:srgbClr val="C0392B"/>
                </a:solidFill>
                <a:latin typeface="Calibri" pitchFamily="34" charset="0"/>
                <a:ea typeface="Calibri" pitchFamily="34" charset="-122"/>
                <a:cs typeface="Calibri" pitchFamily="34" charset="-120"/>
              </a:rPr>
              <a:t>Grid-based</a:t>
            </a:r>
            <a:endParaRPr lang="en-US" sz="1300" dirty="0"/>
          </a:p>
          <a:p>
            <a:pPr marL="0" indent="0">
              <a:buNone/>
            </a:pPr>
            <a:r>
              <a:rPr lang="en-US" sz="1300" i="1" dirty="0">
                <a:solidFill>
                  <a:srgbClr val="C0392B"/>
                </a:solidFill>
                <a:latin typeface="Calibri" pitchFamily="34" charset="0"/>
                <a:ea typeface="Calibri" pitchFamily="34" charset="-122"/>
                <a:cs typeface="Calibri" pitchFamily="34" charset="-120"/>
              </a:rPr>
              <a:t>rink representation</a:t>
            </a:r>
            <a:endParaRPr lang="en-US" sz="1300" dirty="0"/>
          </a:p>
        </p:txBody>
      </p:sp>
      <p:sp>
        <p:nvSpPr>
          <p:cNvPr id="19" name="Text 17"/>
          <p:cNvSpPr/>
          <p:nvPr/>
        </p:nvSpPr>
        <p:spPr>
          <a:xfrm>
            <a:off x="6172200" y="3931920"/>
            <a:ext cx="2560320" cy="914400"/>
          </a:xfrm>
          <a:prstGeom prst="rect">
            <a:avLst/>
          </a:prstGeom>
          <a:noFill/>
          <a:ln/>
        </p:spPr>
        <p:txBody>
          <a:bodyPr wrap="square" lIns="0" tIns="0" rIns="0" bIns="0" rtlCol="0" anchor="t"/>
          <a:lstStyle/>
          <a:p>
            <a:pPr marL="0" indent="0">
              <a:buNone/>
            </a:pPr>
            <a:r>
              <a:rPr lang="en-US" sz="1200" dirty="0">
                <a:solidFill>
                  <a:srgbClr val="555555"/>
                </a:solidFill>
                <a:latin typeface="Calibri" pitchFamily="34" charset="0"/>
                <a:ea typeface="Calibri" pitchFamily="34" charset="-122"/>
                <a:cs typeface="Calibri" pitchFamily="34" charset="-120"/>
              </a:rPr>
              <a:t>Treat the ice as an image. Let the network learn scoring geometry directly.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594360"/>
          </a:xfrm>
          <a:prstGeom prst="rect">
            <a:avLst/>
          </a:prstGeom>
          <a:noFill/>
          <a:ln/>
        </p:spPr>
        <p:txBody>
          <a:bodyPr wrap="square" lIns="0" tIns="0" rIns="0" bIns="0" rtlCol="0" anchor="ctr"/>
          <a:lstStyle/>
          <a:p>
            <a:pPr marL="0" indent="0">
              <a:buNone/>
            </a:pPr>
            <a:r>
              <a:rPr lang="en-US" sz="2800" b="1" dirty="0">
                <a:solidFill>
                  <a:srgbClr val="0A1F1A"/>
                </a:solidFill>
                <a:latin typeface="Georgia" pitchFamily="34" charset="0"/>
                <a:ea typeface="Georgia" pitchFamily="34" charset="-122"/>
                <a:cs typeface="Georgia" pitchFamily="34" charset="-120"/>
              </a:rPr>
              <a:t>The Data</a:t>
            </a:r>
            <a:endParaRPr lang="en-US" sz="2800" dirty="0">
              <a:solidFill>
                <a:srgbClr val="0A1F1A"/>
              </a:solidFill>
            </a:endParaRPr>
          </a:p>
        </p:txBody>
      </p:sp>
      <p:sp>
        <p:nvSpPr>
          <p:cNvPr id="3" name="Shape 1"/>
          <p:cNvSpPr/>
          <p:nvPr/>
        </p:nvSpPr>
        <p:spPr>
          <a:xfrm>
            <a:off x="502920" y="914400"/>
            <a:ext cx="8138160" cy="18288"/>
          </a:xfrm>
          <a:prstGeom prst="rect">
            <a:avLst/>
          </a:prstGeom>
          <a:solidFill>
            <a:srgbClr val="1A3A35"/>
          </a:solidFill>
          <a:ln w="12700">
            <a:solidFill>
              <a:srgbClr val="1A3A35"/>
            </a:solidFill>
            <a:prstDash val="solid"/>
          </a:ln>
        </p:spPr>
        <p:txBody>
          <a:bodyPr/>
          <a:lstStyle/>
          <a:p>
            <a:endParaRPr lang="en-US"/>
          </a:p>
        </p:txBody>
      </p:sp>
      <p:sp>
        <p:nvSpPr>
          <p:cNvPr id="4" name="Text 2"/>
          <p:cNvSpPr/>
          <p:nvPr/>
        </p:nvSpPr>
        <p:spPr>
          <a:xfrm>
            <a:off x="502920" y="1188720"/>
            <a:ext cx="2651760" cy="914400"/>
          </a:xfrm>
          <a:prstGeom prst="rect">
            <a:avLst/>
          </a:prstGeom>
          <a:noFill/>
          <a:ln/>
        </p:spPr>
        <p:txBody>
          <a:bodyPr wrap="square" lIns="0" tIns="0" rIns="0" bIns="0" rtlCol="0" anchor="ctr"/>
          <a:lstStyle/>
          <a:p>
            <a:pPr marL="0" indent="0">
              <a:buNone/>
            </a:pPr>
            <a:r>
              <a:rPr lang="en-US" sz="4400" b="1" dirty="0">
                <a:solidFill>
                  <a:srgbClr val="1A7A6A"/>
                </a:solidFill>
                <a:latin typeface="Georgia" pitchFamily="34" charset="0"/>
                <a:ea typeface="Georgia" pitchFamily="34" charset="-122"/>
                <a:cs typeface="Georgia" pitchFamily="34" charset="-120"/>
              </a:rPr>
              <a:t>528,720</a:t>
            </a:r>
            <a:endParaRPr lang="en-US" sz="4400" dirty="0"/>
          </a:p>
        </p:txBody>
      </p:sp>
      <p:sp>
        <p:nvSpPr>
          <p:cNvPr id="5" name="Text 3"/>
          <p:cNvSpPr/>
          <p:nvPr/>
        </p:nvSpPr>
        <p:spPr>
          <a:xfrm>
            <a:off x="502920" y="2103120"/>
            <a:ext cx="2651760" cy="548640"/>
          </a:xfrm>
          <a:prstGeom prst="rect">
            <a:avLst/>
          </a:prstGeom>
          <a:noFill/>
          <a:ln/>
        </p:spPr>
        <p:txBody>
          <a:bodyPr wrap="square" lIns="0" tIns="0" rIns="0" bIns="0" rtlCol="0" anchor="ctr"/>
          <a:lstStyle/>
          <a:p>
            <a:pPr marL="0" indent="0">
              <a:buNone/>
            </a:pPr>
            <a:r>
              <a:rPr lang="en-US" sz="1200" dirty="0">
                <a:solidFill>
                  <a:srgbClr val="7A9E99"/>
                </a:solidFill>
                <a:latin typeface="Calibri" pitchFamily="34" charset="0"/>
                <a:ea typeface="Calibri" pitchFamily="34" charset="-122"/>
                <a:cs typeface="Calibri" pitchFamily="34" charset="-120"/>
              </a:rPr>
              <a:t>shot attempts</a:t>
            </a:r>
            <a:endParaRPr lang="en-US" sz="1200" dirty="0"/>
          </a:p>
          <a:p>
            <a:pPr marL="0" indent="0">
              <a:buNone/>
            </a:pPr>
            <a:r>
              <a:rPr lang="en-US" sz="1200" dirty="0">
                <a:solidFill>
                  <a:srgbClr val="7A9E99"/>
                </a:solidFill>
                <a:latin typeface="Calibri" pitchFamily="34" charset="0"/>
                <a:ea typeface="Calibri" pitchFamily="34" charset="-122"/>
                <a:cs typeface="Calibri" pitchFamily="34" charset="-120"/>
              </a:rPr>
              <a:t>2020–2025 seasons</a:t>
            </a:r>
            <a:endParaRPr lang="en-US" sz="1200" dirty="0"/>
          </a:p>
        </p:txBody>
      </p:sp>
      <p:sp>
        <p:nvSpPr>
          <p:cNvPr id="6" name="Text 4"/>
          <p:cNvSpPr/>
          <p:nvPr/>
        </p:nvSpPr>
        <p:spPr>
          <a:xfrm>
            <a:off x="3337560" y="1188720"/>
            <a:ext cx="2651760" cy="914400"/>
          </a:xfrm>
          <a:prstGeom prst="rect">
            <a:avLst/>
          </a:prstGeom>
          <a:noFill/>
          <a:ln/>
        </p:spPr>
        <p:txBody>
          <a:bodyPr wrap="square" lIns="0" tIns="0" rIns="0" bIns="0" rtlCol="0" anchor="ctr"/>
          <a:lstStyle/>
          <a:p>
            <a:pPr marL="0" indent="0">
              <a:buNone/>
            </a:pPr>
            <a:r>
              <a:rPr lang="en-US" sz="4400" b="1" dirty="0">
                <a:solidFill>
                  <a:srgbClr val="1A7A6A"/>
                </a:solidFill>
                <a:latin typeface="Georgia" pitchFamily="34" charset="0"/>
                <a:ea typeface="Georgia" pitchFamily="34" charset="-122"/>
                <a:cs typeface="Georgia" pitchFamily="34" charset="-120"/>
              </a:rPr>
              <a:t>7%</a:t>
            </a:r>
            <a:endParaRPr lang="en-US" sz="4400" dirty="0"/>
          </a:p>
        </p:txBody>
      </p:sp>
      <p:sp>
        <p:nvSpPr>
          <p:cNvPr id="7" name="Text 5"/>
          <p:cNvSpPr/>
          <p:nvPr/>
        </p:nvSpPr>
        <p:spPr>
          <a:xfrm>
            <a:off x="3337560" y="2103120"/>
            <a:ext cx="2651760" cy="548640"/>
          </a:xfrm>
          <a:prstGeom prst="rect">
            <a:avLst/>
          </a:prstGeom>
          <a:noFill/>
          <a:ln/>
        </p:spPr>
        <p:txBody>
          <a:bodyPr wrap="square" lIns="0" tIns="0" rIns="0" bIns="0" rtlCol="0" anchor="ctr"/>
          <a:lstStyle/>
          <a:p>
            <a:pPr marL="0" indent="0">
              <a:buNone/>
            </a:pPr>
            <a:r>
              <a:rPr lang="en-US" sz="1200" dirty="0">
                <a:solidFill>
                  <a:srgbClr val="7A9E99"/>
                </a:solidFill>
                <a:latin typeface="Calibri" pitchFamily="34" charset="0"/>
                <a:ea typeface="Calibri" pitchFamily="34" charset="-122"/>
                <a:cs typeface="Calibri" pitchFamily="34" charset="-120"/>
              </a:rPr>
              <a:t>goal rate</a:t>
            </a:r>
            <a:endParaRPr lang="en-US" sz="1200" dirty="0"/>
          </a:p>
          <a:p>
            <a:pPr marL="0" indent="0">
              <a:buNone/>
            </a:pPr>
            <a:r>
              <a:rPr lang="en-US" sz="1200" dirty="0">
                <a:solidFill>
                  <a:srgbClr val="7A9E99"/>
                </a:solidFill>
                <a:latin typeface="Calibri" pitchFamily="34" charset="0"/>
                <a:ea typeface="Calibri" pitchFamily="34" charset="-122"/>
                <a:cs typeface="Calibri" pitchFamily="34" charset="-120"/>
              </a:rPr>
              <a:t>significant class imbalance</a:t>
            </a:r>
            <a:endParaRPr lang="en-US" sz="1200" dirty="0"/>
          </a:p>
        </p:txBody>
      </p:sp>
      <p:sp>
        <p:nvSpPr>
          <p:cNvPr id="8" name="Text 6"/>
          <p:cNvSpPr/>
          <p:nvPr/>
        </p:nvSpPr>
        <p:spPr>
          <a:xfrm>
            <a:off x="6172200" y="1188720"/>
            <a:ext cx="2651760" cy="914400"/>
          </a:xfrm>
          <a:prstGeom prst="rect">
            <a:avLst/>
          </a:prstGeom>
          <a:noFill/>
          <a:ln/>
        </p:spPr>
        <p:txBody>
          <a:bodyPr wrap="square" lIns="0" tIns="0" rIns="0" bIns="0" rtlCol="0" anchor="ctr"/>
          <a:lstStyle/>
          <a:p>
            <a:pPr marL="0" indent="0">
              <a:buNone/>
            </a:pPr>
            <a:r>
              <a:rPr lang="en-US" sz="4400" b="1" dirty="0">
                <a:solidFill>
                  <a:srgbClr val="1A7A6A"/>
                </a:solidFill>
                <a:latin typeface="Georgia" pitchFamily="34" charset="0"/>
                <a:ea typeface="Georgia" pitchFamily="34" charset="-122"/>
                <a:cs typeface="Georgia" pitchFamily="34" charset="-120"/>
              </a:rPr>
              <a:t>2</a:t>
            </a:r>
            <a:endParaRPr lang="en-US" sz="4400" dirty="0"/>
          </a:p>
        </p:txBody>
      </p:sp>
      <p:sp>
        <p:nvSpPr>
          <p:cNvPr id="9" name="Text 7"/>
          <p:cNvSpPr/>
          <p:nvPr/>
        </p:nvSpPr>
        <p:spPr>
          <a:xfrm>
            <a:off x="6172200" y="2103120"/>
            <a:ext cx="2651760" cy="548640"/>
          </a:xfrm>
          <a:prstGeom prst="rect">
            <a:avLst/>
          </a:prstGeom>
          <a:noFill/>
          <a:ln/>
        </p:spPr>
        <p:txBody>
          <a:bodyPr wrap="square" lIns="0" tIns="0" rIns="0" bIns="0" rtlCol="0" anchor="ctr"/>
          <a:lstStyle/>
          <a:p>
            <a:pPr marL="0" indent="0">
              <a:buNone/>
            </a:pPr>
            <a:r>
              <a:rPr lang="en-US" sz="1200" dirty="0">
                <a:solidFill>
                  <a:srgbClr val="7A9E99"/>
                </a:solidFill>
                <a:latin typeface="Calibri" pitchFamily="34" charset="0"/>
                <a:ea typeface="Calibri" pitchFamily="34" charset="-122"/>
                <a:cs typeface="Calibri" pitchFamily="34" charset="-120"/>
              </a:rPr>
              <a:t>core features</a:t>
            </a:r>
            <a:endParaRPr lang="en-US" sz="1200" dirty="0"/>
          </a:p>
          <a:p>
            <a:pPr marL="0" indent="0">
              <a:buNone/>
            </a:pPr>
            <a:r>
              <a:rPr lang="en-US" sz="1200" dirty="0">
                <a:solidFill>
                  <a:srgbClr val="7A9E99"/>
                </a:solidFill>
                <a:latin typeface="Calibri" pitchFamily="34" charset="0"/>
                <a:ea typeface="Calibri" pitchFamily="34" charset="-122"/>
                <a:cs typeface="Calibri" pitchFamily="34" charset="-120"/>
              </a:rPr>
              <a:t>distance + angle</a:t>
            </a:r>
            <a:endParaRPr lang="en-US" sz="1200" dirty="0"/>
          </a:p>
        </p:txBody>
      </p:sp>
      <p:sp>
        <p:nvSpPr>
          <p:cNvPr id="10" name="Text 8"/>
          <p:cNvSpPr/>
          <p:nvPr/>
        </p:nvSpPr>
        <p:spPr>
          <a:xfrm>
            <a:off x="502920" y="2880360"/>
            <a:ext cx="4572000" cy="320040"/>
          </a:xfrm>
          <a:prstGeom prst="rect">
            <a:avLst/>
          </a:prstGeom>
          <a:noFill/>
          <a:ln/>
        </p:spPr>
        <p:txBody>
          <a:bodyPr wrap="square" lIns="0" tIns="0" rIns="0" bIns="0" rtlCol="0" anchor="ctr"/>
          <a:lstStyle/>
          <a:p>
            <a:pPr marL="0" indent="0">
              <a:buNone/>
            </a:pPr>
            <a:r>
              <a:rPr lang="en-US" sz="1100" b="1" dirty="0">
                <a:solidFill>
                  <a:srgbClr val="1A7A6A"/>
                </a:solidFill>
                <a:latin typeface="Calibri" pitchFamily="34" charset="0"/>
                <a:ea typeface="Calibri" pitchFamily="34" charset="-122"/>
                <a:cs typeface="Calibri" pitchFamily="34" charset="-120"/>
              </a:rPr>
              <a:t>Key preprocessing decisions</a:t>
            </a:r>
            <a:endParaRPr lang="en-US" sz="1100" dirty="0"/>
          </a:p>
        </p:txBody>
      </p:sp>
      <p:sp>
        <p:nvSpPr>
          <p:cNvPr id="11" name="Shape 9"/>
          <p:cNvSpPr/>
          <p:nvPr/>
        </p:nvSpPr>
        <p:spPr>
          <a:xfrm>
            <a:off x="502920" y="3246120"/>
            <a:ext cx="8229600" cy="365760"/>
          </a:xfrm>
          <a:prstGeom prst="rect">
            <a:avLst/>
          </a:prstGeom>
          <a:solidFill>
            <a:srgbClr val="0F2A25"/>
          </a:solidFill>
          <a:ln w="3810">
            <a:solidFill>
              <a:srgbClr val="1A3A35"/>
            </a:solidFill>
            <a:prstDash val="solid"/>
          </a:ln>
        </p:spPr>
        <p:txBody>
          <a:bodyPr/>
          <a:lstStyle/>
          <a:p>
            <a:endParaRPr lang="en-US"/>
          </a:p>
        </p:txBody>
      </p:sp>
      <p:sp>
        <p:nvSpPr>
          <p:cNvPr id="12" name="Text 10"/>
          <p:cNvSpPr/>
          <p:nvPr/>
        </p:nvSpPr>
        <p:spPr>
          <a:xfrm>
            <a:off x="640080" y="3300984"/>
            <a:ext cx="2194560" cy="256032"/>
          </a:xfrm>
          <a:prstGeom prst="rect">
            <a:avLst/>
          </a:prstGeom>
          <a:noFill/>
          <a:ln/>
        </p:spPr>
        <p:txBody>
          <a:bodyPr wrap="square" lIns="0" tIns="0" rIns="0" bIns="0" rtlCol="0" anchor="ctr"/>
          <a:lstStyle/>
          <a:p>
            <a:pPr marL="0" indent="0">
              <a:buNone/>
            </a:pPr>
            <a:r>
              <a:rPr lang="en-US" sz="1100" b="1" dirty="0">
                <a:solidFill>
                  <a:srgbClr val="B8DDD8"/>
                </a:solidFill>
                <a:latin typeface="Calibri" pitchFamily="34" charset="0"/>
                <a:ea typeface="Calibri" pitchFamily="34" charset="-122"/>
                <a:cs typeface="Calibri" pitchFamily="34" charset="-120"/>
              </a:rPr>
              <a:t>Shot direction normalized</a:t>
            </a:r>
            <a:endParaRPr lang="en-US" sz="1100" dirty="0"/>
          </a:p>
        </p:txBody>
      </p:sp>
      <p:sp>
        <p:nvSpPr>
          <p:cNvPr id="13" name="Text 11"/>
          <p:cNvSpPr/>
          <p:nvPr/>
        </p:nvSpPr>
        <p:spPr>
          <a:xfrm>
            <a:off x="2926080" y="3300984"/>
            <a:ext cx="5669280" cy="256032"/>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All attacks toward the same goal; essential for CNN spatial consistency</a:t>
            </a:r>
            <a:endParaRPr lang="en-US" sz="1100" dirty="0"/>
          </a:p>
        </p:txBody>
      </p:sp>
      <p:sp>
        <p:nvSpPr>
          <p:cNvPr id="14" name="Shape 12"/>
          <p:cNvSpPr/>
          <p:nvPr/>
        </p:nvSpPr>
        <p:spPr>
          <a:xfrm>
            <a:off x="502920" y="3666744"/>
            <a:ext cx="8229600" cy="365760"/>
          </a:xfrm>
          <a:prstGeom prst="rect">
            <a:avLst/>
          </a:prstGeom>
          <a:solidFill>
            <a:srgbClr val="0B1F1A"/>
          </a:solidFill>
          <a:ln w="3810">
            <a:solidFill>
              <a:srgbClr val="1A3A35"/>
            </a:solidFill>
            <a:prstDash val="solid"/>
          </a:ln>
        </p:spPr>
        <p:txBody>
          <a:bodyPr/>
          <a:lstStyle/>
          <a:p>
            <a:endParaRPr lang="en-US"/>
          </a:p>
        </p:txBody>
      </p:sp>
      <p:sp>
        <p:nvSpPr>
          <p:cNvPr id="15" name="Text 13"/>
          <p:cNvSpPr/>
          <p:nvPr/>
        </p:nvSpPr>
        <p:spPr>
          <a:xfrm>
            <a:off x="640080" y="3721608"/>
            <a:ext cx="2194560" cy="256032"/>
          </a:xfrm>
          <a:prstGeom prst="rect">
            <a:avLst/>
          </a:prstGeom>
          <a:noFill/>
          <a:ln/>
        </p:spPr>
        <p:txBody>
          <a:bodyPr wrap="square" lIns="0" tIns="0" rIns="0" bIns="0" rtlCol="0" anchor="ctr"/>
          <a:lstStyle/>
          <a:p>
            <a:pPr marL="0" indent="0">
              <a:buNone/>
            </a:pPr>
            <a:r>
              <a:rPr lang="en-US" sz="1100" b="1" dirty="0">
                <a:solidFill>
                  <a:srgbClr val="B8DDD8"/>
                </a:solidFill>
                <a:latin typeface="Calibri" pitchFamily="34" charset="0"/>
                <a:ea typeface="Calibri" pitchFamily="34" charset="-122"/>
                <a:cs typeface="Calibri" pitchFamily="34" charset="-120"/>
              </a:rPr>
              <a:t>Class-weighted loss</a:t>
            </a:r>
            <a:endParaRPr lang="en-US" sz="1100" dirty="0"/>
          </a:p>
        </p:txBody>
      </p:sp>
      <p:sp>
        <p:nvSpPr>
          <p:cNvPr id="16" name="Text 14"/>
          <p:cNvSpPr/>
          <p:nvPr/>
        </p:nvSpPr>
        <p:spPr>
          <a:xfrm>
            <a:off x="2926080" y="3721608"/>
            <a:ext cx="5669280" cy="256032"/>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Compensates for 7% goal rate without oversampling</a:t>
            </a:r>
            <a:endParaRPr lang="en-US" sz="1100" dirty="0"/>
          </a:p>
        </p:txBody>
      </p:sp>
      <p:sp>
        <p:nvSpPr>
          <p:cNvPr id="17" name="Shape 15"/>
          <p:cNvSpPr/>
          <p:nvPr/>
        </p:nvSpPr>
        <p:spPr>
          <a:xfrm>
            <a:off x="502920" y="4087368"/>
            <a:ext cx="8229600" cy="365760"/>
          </a:xfrm>
          <a:prstGeom prst="rect">
            <a:avLst/>
          </a:prstGeom>
          <a:solidFill>
            <a:srgbClr val="0F2A25"/>
          </a:solidFill>
          <a:ln w="3810">
            <a:solidFill>
              <a:srgbClr val="1A3A35"/>
            </a:solidFill>
            <a:prstDash val="solid"/>
          </a:ln>
        </p:spPr>
        <p:txBody>
          <a:bodyPr/>
          <a:lstStyle/>
          <a:p>
            <a:endParaRPr lang="en-US"/>
          </a:p>
        </p:txBody>
      </p:sp>
      <p:sp>
        <p:nvSpPr>
          <p:cNvPr id="18" name="Text 16"/>
          <p:cNvSpPr/>
          <p:nvPr/>
        </p:nvSpPr>
        <p:spPr>
          <a:xfrm>
            <a:off x="640080" y="4142232"/>
            <a:ext cx="2194560" cy="256032"/>
          </a:xfrm>
          <a:prstGeom prst="rect">
            <a:avLst/>
          </a:prstGeom>
          <a:noFill/>
          <a:ln/>
        </p:spPr>
        <p:txBody>
          <a:bodyPr wrap="square" lIns="0" tIns="0" rIns="0" bIns="0" rtlCol="0" anchor="ctr"/>
          <a:lstStyle/>
          <a:p>
            <a:pPr marL="0" indent="0">
              <a:buNone/>
            </a:pPr>
            <a:r>
              <a:rPr lang="en-US" sz="1100" b="1" dirty="0">
                <a:solidFill>
                  <a:srgbClr val="B8DDD8"/>
                </a:solidFill>
                <a:latin typeface="Calibri" pitchFamily="34" charset="0"/>
                <a:ea typeface="Calibri" pitchFamily="34" charset="-122"/>
                <a:cs typeface="Calibri" pitchFamily="34" charset="-120"/>
              </a:rPr>
              <a:t>Time-based split</a:t>
            </a:r>
            <a:endParaRPr lang="en-US" sz="1100" dirty="0"/>
          </a:p>
        </p:txBody>
      </p:sp>
      <p:sp>
        <p:nvSpPr>
          <p:cNvPr id="19" name="Text 17"/>
          <p:cNvSpPr/>
          <p:nvPr/>
        </p:nvSpPr>
        <p:spPr>
          <a:xfrm>
            <a:off x="2926080" y="4142232"/>
            <a:ext cx="5669280" cy="256032"/>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Train: 2020–2024  |  Test: 2024–2025 season</a:t>
            </a:r>
            <a:endParaRPr lang="en-US" sz="1100" dirty="0"/>
          </a:p>
        </p:txBody>
      </p:sp>
      <p:sp>
        <p:nvSpPr>
          <p:cNvPr id="20" name="Shape 18"/>
          <p:cNvSpPr/>
          <p:nvPr/>
        </p:nvSpPr>
        <p:spPr>
          <a:xfrm>
            <a:off x="502920" y="4507992"/>
            <a:ext cx="8229600" cy="365760"/>
          </a:xfrm>
          <a:prstGeom prst="rect">
            <a:avLst/>
          </a:prstGeom>
          <a:solidFill>
            <a:srgbClr val="0B1F1A"/>
          </a:solidFill>
          <a:ln w="3810">
            <a:solidFill>
              <a:srgbClr val="1A3A35"/>
            </a:solidFill>
            <a:prstDash val="solid"/>
          </a:ln>
        </p:spPr>
        <p:txBody>
          <a:bodyPr/>
          <a:lstStyle/>
          <a:p>
            <a:endParaRPr lang="en-US"/>
          </a:p>
        </p:txBody>
      </p:sp>
      <p:sp>
        <p:nvSpPr>
          <p:cNvPr id="21" name="Text 19"/>
          <p:cNvSpPr/>
          <p:nvPr/>
        </p:nvSpPr>
        <p:spPr>
          <a:xfrm>
            <a:off x="640080" y="4562856"/>
            <a:ext cx="2194560" cy="256032"/>
          </a:xfrm>
          <a:prstGeom prst="rect">
            <a:avLst/>
          </a:prstGeom>
          <a:noFill/>
          <a:ln/>
        </p:spPr>
        <p:txBody>
          <a:bodyPr wrap="square" lIns="0" tIns="0" rIns="0" bIns="0" rtlCol="0" anchor="ctr"/>
          <a:lstStyle/>
          <a:p>
            <a:pPr marL="0" indent="0">
              <a:buNone/>
            </a:pPr>
            <a:r>
              <a:rPr lang="en-US" sz="1100" b="1" dirty="0">
                <a:solidFill>
                  <a:srgbClr val="B8DDD8"/>
                </a:solidFill>
                <a:latin typeface="Calibri" pitchFamily="34" charset="0"/>
                <a:ea typeface="Calibri" pitchFamily="34" charset="-122"/>
                <a:cs typeface="Calibri" pitchFamily="34" charset="-120"/>
              </a:rPr>
              <a:t>StandardScaler</a:t>
            </a:r>
            <a:endParaRPr lang="en-US" sz="1100" dirty="0"/>
          </a:p>
        </p:txBody>
      </p:sp>
      <p:sp>
        <p:nvSpPr>
          <p:cNvPr id="22" name="Text 20"/>
          <p:cNvSpPr/>
          <p:nvPr/>
        </p:nvSpPr>
        <p:spPr>
          <a:xfrm>
            <a:off x="2926080" y="4562856"/>
            <a:ext cx="5669280" cy="256032"/>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Applied to LR and MLP features  |  CNN uses raw grid coordinates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530352"/>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EDA</a:t>
            </a:r>
            <a:endParaRPr lang="en-US" sz="2600" dirty="0"/>
          </a:p>
        </p:txBody>
      </p:sp>
      <p:sp>
        <p:nvSpPr>
          <p:cNvPr id="3" name="Shape 1"/>
          <p:cNvSpPr/>
          <p:nvPr/>
        </p:nvSpPr>
        <p:spPr>
          <a:xfrm>
            <a:off x="502920" y="777240"/>
            <a:ext cx="8229600" cy="18288"/>
          </a:xfrm>
          <a:prstGeom prst="rect">
            <a:avLst/>
          </a:prstGeom>
          <a:solidFill>
            <a:srgbClr val="DDEAE8"/>
          </a:solidFill>
          <a:ln w="12700">
            <a:solidFill>
              <a:srgbClr val="DDEAE8"/>
            </a:solidFill>
            <a:prstDash val="solid"/>
          </a:ln>
        </p:spPr>
        <p:txBody>
          <a:bodyPr/>
          <a:lstStyle/>
          <a:p>
            <a:endParaRPr lang="en-US"/>
          </a:p>
        </p:txBody>
      </p:sp>
      <p:sp>
        <p:nvSpPr>
          <p:cNvPr id="4" name="Text 2"/>
          <p:cNvSpPr/>
          <p:nvPr/>
        </p:nvSpPr>
        <p:spPr>
          <a:xfrm>
            <a:off x="320040" y="868680"/>
            <a:ext cx="5029200" cy="274320"/>
          </a:xfrm>
          <a:prstGeom prst="rect">
            <a:avLst/>
          </a:prstGeom>
          <a:noFill/>
          <a:ln/>
        </p:spPr>
        <p:txBody>
          <a:bodyPr wrap="square" lIns="0" tIns="0" rIns="0" bIns="0" rtlCol="0" anchor="ctr"/>
          <a:lstStyle/>
          <a:p>
            <a:pPr marL="0" indent="0">
              <a:buNone/>
            </a:pPr>
            <a:r>
              <a:rPr lang="en-US" sz="1000" b="1" dirty="0">
                <a:solidFill>
                  <a:srgbClr val="7A9E99"/>
                </a:solidFill>
                <a:latin typeface="Calibri" pitchFamily="34" charset="0"/>
                <a:ea typeface="Calibri" pitchFamily="34" charset="-122"/>
                <a:cs typeface="Calibri" pitchFamily="34" charset="-120"/>
              </a:rPr>
              <a:t>Normalized shot map (all attacks → +x)</a:t>
            </a:r>
            <a:endParaRPr lang="en-US" sz="1000" dirty="0"/>
          </a:p>
        </p:txBody>
      </p:sp>
      <p:pic>
        <p:nvPicPr>
          <p:cNvPr id="5" name="Image 0" descr="preencoded.png"/>
          <p:cNvPicPr>
            <a:picLocks noChangeAspect="1"/>
          </p:cNvPicPr>
          <p:nvPr/>
        </p:nvPicPr>
        <p:blipFill>
          <a:blip r:embed="rId3"/>
          <a:srcRect/>
          <a:stretch/>
        </p:blipFill>
        <p:spPr>
          <a:xfrm>
            <a:off x="320040" y="1143000"/>
            <a:ext cx="5029200" cy="3456432"/>
          </a:xfrm>
          <a:prstGeom prst="rect">
            <a:avLst/>
          </a:prstGeom>
        </p:spPr>
      </p:pic>
      <p:sp>
        <p:nvSpPr>
          <p:cNvPr id="6" name="Shape 3"/>
          <p:cNvSpPr/>
          <p:nvPr/>
        </p:nvSpPr>
        <p:spPr>
          <a:xfrm>
            <a:off x="5577840" y="1143000"/>
            <a:ext cx="3246120" cy="1005840"/>
          </a:xfrm>
          <a:prstGeom prst="rect">
            <a:avLst/>
          </a:prstGeom>
          <a:solidFill>
            <a:srgbClr val="0B1F1A"/>
          </a:solidFill>
          <a:ln w="12700">
            <a:solidFill>
              <a:srgbClr val="0B1F1A"/>
            </a:solidFill>
            <a:prstDash val="solid"/>
          </a:ln>
        </p:spPr>
        <p:txBody>
          <a:bodyPr/>
          <a:lstStyle/>
          <a:p>
            <a:endParaRPr lang="en-US"/>
          </a:p>
        </p:txBody>
      </p:sp>
      <p:sp>
        <p:nvSpPr>
          <p:cNvPr id="7" name="Text 4"/>
          <p:cNvSpPr/>
          <p:nvPr/>
        </p:nvSpPr>
        <p:spPr>
          <a:xfrm>
            <a:off x="5577840" y="1207008"/>
            <a:ext cx="3246120" cy="594360"/>
          </a:xfrm>
          <a:prstGeom prst="rect">
            <a:avLst/>
          </a:prstGeom>
          <a:noFill/>
          <a:ln/>
        </p:spPr>
        <p:txBody>
          <a:bodyPr wrap="square" lIns="0" tIns="0" rIns="0" bIns="0" rtlCol="0" anchor="ctr"/>
          <a:lstStyle/>
          <a:p>
            <a:pPr marL="0" indent="0" algn="ctr">
              <a:buNone/>
            </a:pPr>
            <a:r>
              <a:rPr lang="en-US" sz="3600" b="1" dirty="0">
                <a:solidFill>
                  <a:srgbClr val="1A7A6A"/>
                </a:solidFill>
                <a:latin typeface="Georgia" pitchFamily="34" charset="0"/>
                <a:ea typeface="Georgia" pitchFamily="34" charset="-122"/>
                <a:cs typeface="Georgia" pitchFamily="34" charset="-120"/>
              </a:rPr>
              <a:t>528,720</a:t>
            </a:r>
            <a:endParaRPr lang="en-US" sz="3600" dirty="0"/>
          </a:p>
        </p:txBody>
      </p:sp>
      <p:sp>
        <p:nvSpPr>
          <p:cNvPr id="8" name="Text 5"/>
          <p:cNvSpPr/>
          <p:nvPr/>
        </p:nvSpPr>
        <p:spPr>
          <a:xfrm>
            <a:off x="5577840" y="1755648"/>
            <a:ext cx="3246120" cy="274320"/>
          </a:xfrm>
          <a:prstGeom prst="rect">
            <a:avLst/>
          </a:prstGeom>
          <a:noFill/>
          <a:ln/>
        </p:spPr>
        <p:txBody>
          <a:bodyPr wrap="square" lIns="0" tIns="0" rIns="0" bIns="0" rtlCol="0" anchor="ctr"/>
          <a:lstStyle/>
          <a:p>
            <a:pPr marL="0" indent="0" algn="ctr">
              <a:buNone/>
            </a:pPr>
            <a:r>
              <a:rPr lang="en-US" sz="1100" dirty="0">
                <a:solidFill>
                  <a:srgbClr val="7A9E99"/>
                </a:solidFill>
                <a:latin typeface="Calibri" pitchFamily="34" charset="0"/>
                <a:ea typeface="Calibri" pitchFamily="34" charset="-122"/>
                <a:cs typeface="Calibri" pitchFamily="34" charset="-120"/>
              </a:rPr>
              <a:t>total shot attempts</a:t>
            </a:r>
            <a:endParaRPr lang="en-US" sz="1100" dirty="0"/>
          </a:p>
        </p:txBody>
      </p:sp>
      <p:sp>
        <p:nvSpPr>
          <p:cNvPr id="9" name="Shape 6"/>
          <p:cNvSpPr/>
          <p:nvPr/>
        </p:nvSpPr>
        <p:spPr>
          <a:xfrm>
            <a:off x="5577840" y="2331720"/>
            <a:ext cx="3246120" cy="1005840"/>
          </a:xfrm>
          <a:prstGeom prst="rect">
            <a:avLst/>
          </a:prstGeom>
          <a:solidFill>
            <a:srgbClr val="0B1F1A"/>
          </a:solidFill>
          <a:ln w="12700">
            <a:solidFill>
              <a:srgbClr val="0B1F1A"/>
            </a:solidFill>
            <a:prstDash val="solid"/>
          </a:ln>
        </p:spPr>
        <p:txBody>
          <a:bodyPr/>
          <a:lstStyle/>
          <a:p>
            <a:endParaRPr lang="en-US"/>
          </a:p>
        </p:txBody>
      </p:sp>
      <p:sp>
        <p:nvSpPr>
          <p:cNvPr id="10" name="Text 7"/>
          <p:cNvSpPr/>
          <p:nvPr/>
        </p:nvSpPr>
        <p:spPr>
          <a:xfrm>
            <a:off x="5577840" y="2395728"/>
            <a:ext cx="3246120" cy="594360"/>
          </a:xfrm>
          <a:prstGeom prst="rect">
            <a:avLst/>
          </a:prstGeom>
          <a:noFill/>
          <a:ln/>
        </p:spPr>
        <p:txBody>
          <a:bodyPr wrap="square" lIns="0" tIns="0" rIns="0" bIns="0" rtlCol="0" anchor="ctr"/>
          <a:lstStyle/>
          <a:p>
            <a:pPr marL="0" indent="0" algn="ctr">
              <a:buNone/>
            </a:pPr>
            <a:r>
              <a:rPr lang="en-US" sz="3600" b="1" dirty="0">
                <a:solidFill>
                  <a:srgbClr val="1A7A6A"/>
                </a:solidFill>
                <a:latin typeface="Georgia" pitchFamily="34" charset="0"/>
                <a:ea typeface="Georgia" pitchFamily="34" charset="-122"/>
                <a:cs typeface="Georgia" pitchFamily="34" charset="-120"/>
              </a:rPr>
              <a:t>7%</a:t>
            </a:r>
            <a:endParaRPr lang="en-US" sz="3600" dirty="0"/>
          </a:p>
        </p:txBody>
      </p:sp>
      <p:sp>
        <p:nvSpPr>
          <p:cNvPr id="11" name="Text 8"/>
          <p:cNvSpPr/>
          <p:nvPr/>
        </p:nvSpPr>
        <p:spPr>
          <a:xfrm>
            <a:off x="5577840" y="2944368"/>
            <a:ext cx="3246120" cy="274320"/>
          </a:xfrm>
          <a:prstGeom prst="rect">
            <a:avLst/>
          </a:prstGeom>
          <a:noFill/>
          <a:ln/>
        </p:spPr>
        <p:txBody>
          <a:bodyPr wrap="square" lIns="0" tIns="0" rIns="0" bIns="0" rtlCol="0" anchor="ctr"/>
          <a:lstStyle/>
          <a:p>
            <a:pPr marL="0" indent="0" algn="ctr">
              <a:buNone/>
            </a:pPr>
            <a:r>
              <a:rPr lang="en-US" sz="1100" dirty="0">
                <a:solidFill>
                  <a:srgbClr val="7A9E99"/>
                </a:solidFill>
                <a:latin typeface="Calibri" pitchFamily="34" charset="0"/>
                <a:ea typeface="Calibri" pitchFamily="34" charset="-122"/>
                <a:cs typeface="Calibri" pitchFamily="34" charset="-120"/>
              </a:rPr>
              <a:t>goal rate  ·  strong class imbalance</a:t>
            </a:r>
            <a:endParaRPr lang="en-US" sz="1100" dirty="0"/>
          </a:p>
        </p:txBody>
      </p:sp>
      <p:sp>
        <p:nvSpPr>
          <p:cNvPr id="12" name="Text 9"/>
          <p:cNvSpPr/>
          <p:nvPr/>
        </p:nvSpPr>
        <p:spPr>
          <a:xfrm>
            <a:off x="5577840" y="3520440"/>
            <a:ext cx="3246120" cy="1234440"/>
          </a:xfrm>
          <a:prstGeom prst="rect">
            <a:avLst/>
          </a:prstGeom>
          <a:noFill/>
          <a:ln/>
        </p:spPr>
        <p:txBody>
          <a:bodyPr wrap="square" lIns="0" tIns="0" rIns="0" bIns="0" rtlCol="0" anchor="t"/>
          <a:lstStyle/>
          <a:p>
            <a:pPr marL="0" indent="0">
              <a:buNone/>
            </a:pPr>
            <a:r>
              <a:rPr lang="en-US" sz="1150" i="1" dirty="0">
                <a:solidFill>
                  <a:srgbClr val="555555"/>
                </a:solidFill>
                <a:latin typeface="Calibri" pitchFamily="34" charset="0"/>
                <a:ea typeface="Calibri" pitchFamily="34" charset="-122"/>
                <a:cs typeface="Calibri" pitchFamily="34" charset="-120"/>
              </a:rPr>
              <a:t>The dense concentration in the offensive zone confirms that shot location is highly structured — not random across the ice. The normalization step (all attacks toward +x) is what makes CNN spatial learning possible.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56032"/>
            <a:ext cx="5486400" cy="566928"/>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Logistic Regression</a:t>
            </a:r>
            <a:endParaRPr lang="en-US" sz="2600" b="1" dirty="0"/>
          </a:p>
        </p:txBody>
      </p:sp>
      <p:sp>
        <p:nvSpPr>
          <p:cNvPr id="3" name="Text 1"/>
          <p:cNvSpPr/>
          <p:nvPr/>
        </p:nvSpPr>
        <p:spPr>
          <a:xfrm>
            <a:off x="3999244" y="256032"/>
            <a:ext cx="4778996" cy="566928"/>
          </a:xfrm>
          <a:prstGeom prst="rect">
            <a:avLst/>
          </a:prstGeom>
          <a:noFill/>
          <a:ln/>
        </p:spPr>
        <p:txBody>
          <a:bodyPr wrap="square" lIns="0" tIns="0" rIns="0" bIns="0" rtlCol="0" anchor="ctr"/>
          <a:lstStyle/>
          <a:p>
            <a:pPr marL="0" indent="0">
              <a:buNone/>
            </a:pPr>
            <a:r>
              <a:rPr lang="en-US" sz="2600" b="1" dirty="0">
                <a:solidFill>
                  <a:srgbClr val="1A7A6A"/>
                </a:solidFill>
                <a:latin typeface="Georgia" pitchFamily="34" charset="0"/>
                <a:ea typeface="Georgia" pitchFamily="34" charset="-122"/>
                <a:cs typeface="Georgia" pitchFamily="34" charset="-120"/>
              </a:rPr>
              <a:t>The Baseline</a:t>
            </a:r>
            <a:endParaRPr lang="en-US" sz="2600" dirty="0"/>
          </a:p>
        </p:txBody>
      </p:sp>
      <p:sp>
        <p:nvSpPr>
          <p:cNvPr id="4" name="Shape 2"/>
          <p:cNvSpPr/>
          <p:nvPr/>
        </p:nvSpPr>
        <p:spPr>
          <a:xfrm>
            <a:off x="502920" y="804672"/>
            <a:ext cx="8229600" cy="18288"/>
          </a:xfrm>
          <a:prstGeom prst="rect">
            <a:avLst/>
          </a:prstGeom>
          <a:solidFill>
            <a:srgbClr val="DDEAE8"/>
          </a:solidFill>
          <a:ln w="12700">
            <a:solidFill>
              <a:srgbClr val="DDEAE8"/>
            </a:solidFill>
            <a:prstDash val="solid"/>
          </a:ln>
        </p:spPr>
        <p:txBody>
          <a:bodyPr/>
          <a:lstStyle/>
          <a:p>
            <a:endParaRPr lang="en-US"/>
          </a:p>
        </p:txBody>
      </p:sp>
      <p:sp>
        <p:nvSpPr>
          <p:cNvPr id="5" name="Shape 3"/>
          <p:cNvSpPr/>
          <p:nvPr/>
        </p:nvSpPr>
        <p:spPr>
          <a:xfrm>
            <a:off x="502920" y="914400"/>
            <a:ext cx="2194560" cy="1234440"/>
          </a:xfrm>
          <a:prstGeom prst="rect">
            <a:avLst/>
          </a:prstGeom>
          <a:solidFill>
            <a:srgbClr val="0B1F1A"/>
          </a:solidFill>
          <a:ln w="12700">
            <a:solidFill>
              <a:srgbClr val="0B1F1A"/>
            </a:solidFill>
            <a:prstDash val="solid"/>
          </a:ln>
          <a:effectLst>
            <a:outerShdw blurRad="127000" dist="50800" dir="8100000" algn="bl" rotWithShape="0">
              <a:srgbClr val="000000">
                <a:alpha val="12000"/>
              </a:srgbClr>
            </a:outerShdw>
          </a:effectLst>
        </p:spPr>
        <p:txBody>
          <a:bodyPr/>
          <a:lstStyle/>
          <a:p>
            <a:endParaRPr lang="en-US"/>
          </a:p>
        </p:txBody>
      </p:sp>
      <p:sp>
        <p:nvSpPr>
          <p:cNvPr id="6" name="Text 4"/>
          <p:cNvSpPr/>
          <p:nvPr/>
        </p:nvSpPr>
        <p:spPr>
          <a:xfrm>
            <a:off x="502920" y="960120"/>
            <a:ext cx="2194560" cy="777240"/>
          </a:xfrm>
          <a:prstGeom prst="rect">
            <a:avLst/>
          </a:prstGeom>
          <a:noFill/>
          <a:ln/>
        </p:spPr>
        <p:txBody>
          <a:bodyPr wrap="square" lIns="0" tIns="0" rIns="0" bIns="0" rtlCol="0" anchor="ctr"/>
          <a:lstStyle/>
          <a:p>
            <a:pPr marL="0" indent="0" algn="ctr">
              <a:buNone/>
            </a:pPr>
            <a:r>
              <a:rPr lang="en-US" sz="4000" b="1" dirty="0">
                <a:solidFill>
                  <a:srgbClr val="1A7A6A"/>
                </a:solidFill>
                <a:latin typeface="Georgia" pitchFamily="34" charset="0"/>
                <a:ea typeface="Georgia" pitchFamily="34" charset="-122"/>
                <a:cs typeface="Georgia" pitchFamily="34" charset="-120"/>
              </a:rPr>
              <a:t>0.709</a:t>
            </a:r>
            <a:endParaRPr lang="en-US" sz="4000" dirty="0"/>
          </a:p>
        </p:txBody>
      </p:sp>
      <p:sp>
        <p:nvSpPr>
          <p:cNvPr id="7" name="Text 5"/>
          <p:cNvSpPr/>
          <p:nvPr/>
        </p:nvSpPr>
        <p:spPr>
          <a:xfrm>
            <a:off x="502920" y="1691640"/>
            <a:ext cx="2194560" cy="347472"/>
          </a:xfrm>
          <a:prstGeom prst="rect">
            <a:avLst/>
          </a:prstGeom>
          <a:noFill/>
          <a:ln/>
        </p:spPr>
        <p:txBody>
          <a:bodyPr wrap="square" lIns="0" tIns="0" rIns="0" bIns="0" rtlCol="0" anchor="ctr"/>
          <a:lstStyle/>
          <a:p>
            <a:pPr marL="0" indent="0" algn="ctr">
              <a:buNone/>
            </a:pPr>
            <a:r>
              <a:rPr lang="en-US" sz="1200" dirty="0">
                <a:solidFill>
                  <a:srgbClr val="7A9E99"/>
                </a:solidFill>
                <a:latin typeface="Calibri" pitchFamily="34" charset="0"/>
                <a:ea typeface="Calibri" pitchFamily="34" charset="-122"/>
                <a:cs typeface="Calibri" pitchFamily="34" charset="-120"/>
              </a:rPr>
              <a:t>ROC-AUC</a:t>
            </a:r>
            <a:endParaRPr lang="en-US" sz="1200" dirty="0"/>
          </a:p>
        </p:txBody>
      </p:sp>
      <p:sp>
        <p:nvSpPr>
          <p:cNvPr id="8" name="Shape 6"/>
          <p:cNvSpPr/>
          <p:nvPr/>
        </p:nvSpPr>
        <p:spPr>
          <a:xfrm>
            <a:off x="3063240" y="914400"/>
            <a:ext cx="2194560" cy="1234440"/>
          </a:xfrm>
          <a:prstGeom prst="rect">
            <a:avLst/>
          </a:prstGeom>
          <a:solidFill>
            <a:srgbClr val="0B1F1A"/>
          </a:solidFill>
          <a:ln w="12700">
            <a:solidFill>
              <a:srgbClr val="0B1F1A"/>
            </a:solidFill>
            <a:prstDash val="solid"/>
          </a:ln>
          <a:effectLst>
            <a:outerShdw blurRad="127000" dist="50800" dir="8100000" algn="bl" rotWithShape="0">
              <a:srgbClr val="000000">
                <a:alpha val="12000"/>
              </a:srgbClr>
            </a:outerShdw>
          </a:effectLst>
        </p:spPr>
        <p:txBody>
          <a:bodyPr/>
          <a:lstStyle/>
          <a:p>
            <a:endParaRPr lang="en-US"/>
          </a:p>
        </p:txBody>
      </p:sp>
      <p:sp>
        <p:nvSpPr>
          <p:cNvPr id="9" name="Text 7"/>
          <p:cNvSpPr/>
          <p:nvPr/>
        </p:nvSpPr>
        <p:spPr>
          <a:xfrm>
            <a:off x="3063240" y="960120"/>
            <a:ext cx="2194560" cy="777240"/>
          </a:xfrm>
          <a:prstGeom prst="rect">
            <a:avLst/>
          </a:prstGeom>
          <a:noFill/>
          <a:ln/>
        </p:spPr>
        <p:txBody>
          <a:bodyPr wrap="square" lIns="0" tIns="0" rIns="0" bIns="0" rtlCol="0" anchor="ctr"/>
          <a:lstStyle/>
          <a:p>
            <a:pPr marL="0" indent="0" algn="ctr">
              <a:buNone/>
            </a:pPr>
            <a:r>
              <a:rPr lang="en-US" sz="4000" b="1" dirty="0">
                <a:solidFill>
                  <a:srgbClr val="1A7A6A"/>
                </a:solidFill>
                <a:latin typeface="Georgia" pitchFamily="34" charset="0"/>
                <a:ea typeface="Georgia" pitchFamily="34" charset="-122"/>
                <a:cs typeface="Georgia" pitchFamily="34" charset="-120"/>
              </a:rPr>
              <a:t>0.143</a:t>
            </a:r>
            <a:endParaRPr lang="en-US" sz="4000" dirty="0"/>
          </a:p>
        </p:txBody>
      </p:sp>
      <p:sp>
        <p:nvSpPr>
          <p:cNvPr id="10" name="Text 8"/>
          <p:cNvSpPr/>
          <p:nvPr/>
        </p:nvSpPr>
        <p:spPr>
          <a:xfrm>
            <a:off x="3063240" y="1691640"/>
            <a:ext cx="2194560" cy="347472"/>
          </a:xfrm>
          <a:prstGeom prst="rect">
            <a:avLst/>
          </a:prstGeom>
          <a:noFill/>
          <a:ln/>
        </p:spPr>
        <p:txBody>
          <a:bodyPr wrap="square" lIns="0" tIns="0" rIns="0" bIns="0" rtlCol="0" anchor="ctr"/>
          <a:lstStyle/>
          <a:p>
            <a:pPr marL="0" indent="0" algn="ctr">
              <a:buNone/>
            </a:pPr>
            <a:r>
              <a:rPr lang="en-US" sz="1200" dirty="0">
                <a:solidFill>
                  <a:srgbClr val="7A9E99"/>
                </a:solidFill>
                <a:latin typeface="Calibri" pitchFamily="34" charset="0"/>
                <a:ea typeface="Calibri" pitchFamily="34" charset="-122"/>
                <a:cs typeface="Calibri" pitchFamily="34" charset="-120"/>
              </a:rPr>
              <a:t>PR-AUC</a:t>
            </a:r>
            <a:endParaRPr lang="en-US" sz="1200" dirty="0"/>
          </a:p>
        </p:txBody>
      </p:sp>
      <p:sp>
        <p:nvSpPr>
          <p:cNvPr id="11" name="Shape 9"/>
          <p:cNvSpPr/>
          <p:nvPr/>
        </p:nvSpPr>
        <p:spPr>
          <a:xfrm>
            <a:off x="5212080" y="904352"/>
            <a:ext cx="3611880" cy="1252728"/>
          </a:xfrm>
          <a:prstGeom prst="rect">
            <a:avLst/>
          </a:prstGeom>
          <a:solidFill>
            <a:srgbClr val="FFFFFF"/>
          </a:solidFill>
          <a:ln w="635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2" name="Text 10"/>
          <p:cNvSpPr/>
          <p:nvPr/>
        </p:nvSpPr>
        <p:spPr>
          <a:xfrm>
            <a:off x="5349240" y="987552"/>
            <a:ext cx="3337560" cy="320040"/>
          </a:xfrm>
          <a:prstGeom prst="rect">
            <a:avLst/>
          </a:prstGeom>
          <a:noFill/>
          <a:ln/>
        </p:spPr>
        <p:txBody>
          <a:bodyPr wrap="square" lIns="0" tIns="0" rIns="0" bIns="0" rtlCol="0" anchor="ctr"/>
          <a:lstStyle/>
          <a:p>
            <a:pPr marL="0" indent="0">
              <a:buNone/>
            </a:pPr>
            <a:r>
              <a:rPr lang="en-US" sz="1100" b="1" dirty="0">
                <a:solidFill>
                  <a:srgbClr val="0B1F1A"/>
                </a:solidFill>
                <a:latin typeface="Calibri" pitchFamily="34" charset="0"/>
                <a:ea typeface="Calibri" pitchFamily="34" charset="-122"/>
                <a:cs typeface="Calibri" pitchFamily="34" charset="-120"/>
              </a:rPr>
              <a:t>Features: distance + angle only</a:t>
            </a:r>
            <a:endParaRPr lang="en-US" sz="1100" dirty="0"/>
          </a:p>
        </p:txBody>
      </p:sp>
      <p:sp>
        <p:nvSpPr>
          <p:cNvPr id="13" name="Text 11"/>
          <p:cNvSpPr/>
          <p:nvPr/>
        </p:nvSpPr>
        <p:spPr>
          <a:xfrm>
            <a:off x="5349240" y="1307592"/>
            <a:ext cx="3337560" cy="73152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Assumes linear log-odds relationship</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No feature interactions</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Treats rink as feature space, not geometry</a:t>
            </a:r>
            <a:endParaRPr lang="en-US" sz="1100" dirty="0"/>
          </a:p>
        </p:txBody>
      </p:sp>
      <p:sp>
        <p:nvSpPr>
          <p:cNvPr id="14" name="Shape 12"/>
          <p:cNvSpPr/>
          <p:nvPr/>
        </p:nvSpPr>
        <p:spPr>
          <a:xfrm>
            <a:off x="502920" y="2331720"/>
            <a:ext cx="8321040" cy="2514600"/>
          </a:xfrm>
          <a:prstGeom prst="rect">
            <a:avLst/>
          </a:prstGeom>
          <a:solidFill>
            <a:srgbClr val="FFFFFF"/>
          </a:solidFill>
          <a:ln w="635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5" name="Shape 13"/>
          <p:cNvSpPr/>
          <p:nvPr/>
        </p:nvSpPr>
        <p:spPr>
          <a:xfrm>
            <a:off x="502920" y="2331720"/>
            <a:ext cx="164592" cy="2514600"/>
          </a:xfrm>
          <a:prstGeom prst="rect">
            <a:avLst/>
          </a:prstGeom>
          <a:solidFill>
            <a:srgbClr val="7A9E99"/>
          </a:solidFill>
          <a:ln w="12700">
            <a:solidFill>
              <a:srgbClr val="7A9E99"/>
            </a:solidFill>
            <a:prstDash val="solid"/>
          </a:ln>
        </p:spPr>
        <p:txBody>
          <a:bodyPr/>
          <a:lstStyle/>
          <a:p>
            <a:endParaRPr lang="en-US"/>
          </a:p>
        </p:txBody>
      </p:sp>
      <p:sp>
        <p:nvSpPr>
          <p:cNvPr id="16" name="Text 14"/>
          <p:cNvSpPr/>
          <p:nvPr/>
        </p:nvSpPr>
        <p:spPr>
          <a:xfrm>
            <a:off x="914400" y="2423160"/>
            <a:ext cx="7726680" cy="347472"/>
          </a:xfrm>
          <a:prstGeom prst="rect">
            <a:avLst/>
          </a:prstGeom>
          <a:noFill/>
          <a:ln/>
        </p:spPr>
        <p:txBody>
          <a:bodyPr wrap="square" lIns="0" tIns="0" rIns="0" bIns="0" rtlCol="0" anchor="ctr"/>
          <a:lstStyle/>
          <a:p>
            <a:pPr marL="0" indent="0">
              <a:buNone/>
            </a:pPr>
            <a:r>
              <a:rPr lang="en-US" sz="1200" b="1" dirty="0">
                <a:solidFill>
                  <a:srgbClr val="0B1F1A"/>
                </a:solidFill>
                <a:latin typeface="Calibri" pitchFamily="34" charset="0"/>
                <a:ea typeface="Calibri" pitchFamily="34" charset="-122"/>
                <a:cs typeface="Calibri" pitchFamily="34" charset="-120"/>
              </a:rPr>
              <a:t>Interpretation</a:t>
            </a:r>
            <a:endParaRPr lang="en-US" sz="1200" dirty="0"/>
          </a:p>
        </p:txBody>
      </p:sp>
      <p:sp>
        <p:nvSpPr>
          <p:cNvPr id="17" name="Text 15"/>
          <p:cNvSpPr/>
          <p:nvPr/>
        </p:nvSpPr>
        <p:spPr>
          <a:xfrm>
            <a:off x="914400" y="2816352"/>
            <a:ext cx="7726679" cy="1920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ROC-AUC of 0.709 is surprisingly strong for just two features. Distance and angle already capture most of the signal in goal probability. Goals are more likely closer to the net and from central positions, and that relationship is mostly monotonic.</a:t>
            </a:r>
            <a:endParaRPr lang="en-US" sz="1250" dirty="0"/>
          </a:p>
          <a:p>
            <a:pPr marL="0" indent="0">
              <a:buNone/>
            </a:pP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This makes logistic regression a hard baseline to beat. The nonlinear models need to find signals that two summary statistics missed.</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1371600" cy="566928"/>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MLP</a:t>
            </a:r>
            <a:endParaRPr lang="en-US" sz="2600" b="1" dirty="0"/>
          </a:p>
        </p:txBody>
      </p:sp>
      <p:sp>
        <p:nvSpPr>
          <p:cNvPr id="3" name="Text 1"/>
          <p:cNvSpPr/>
          <p:nvPr/>
        </p:nvSpPr>
        <p:spPr>
          <a:xfrm>
            <a:off x="1691640" y="256032"/>
            <a:ext cx="6858000" cy="566928"/>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Nonlinear Tabular Model</a:t>
            </a:r>
            <a:endParaRPr lang="en-US" sz="2600" dirty="0"/>
          </a:p>
        </p:txBody>
      </p:sp>
      <p:sp>
        <p:nvSpPr>
          <p:cNvPr id="4" name="Shape 2"/>
          <p:cNvSpPr/>
          <p:nvPr/>
        </p:nvSpPr>
        <p:spPr>
          <a:xfrm>
            <a:off x="502920" y="804672"/>
            <a:ext cx="8229600" cy="18288"/>
          </a:xfrm>
          <a:prstGeom prst="rect">
            <a:avLst/>
          </a:prstGeom>
          <a:solidFill>
            <a:srgbClr val="DDEAE8"/>
          </a:solidFill>
          <a:ln w="12700">
            <a:solidFill>
              <a:srgbClr val="DDEAE8"/>
            </a:solidFill>
            <a:prstDash val="solid"/>
          </a:ln>
        </p:spPr>
        <p:txBody>
          <a:bodyPr/>
          <a:lstStyle/>
          <a:p>
            <a:endParaRPr lang="en-US"/>
          </a:p>
        </p:txBody>
      </p:sp>
      <p:sp>
        <p:nvSpPr>
          <p:cNvPr id="5" name="Shape 3"/>
          <p:cNvSpPr/>
          <p:nvPr/>
        </p:nvSpPr>
        <p:spPr>
          <a:xfrm>
            <a:off x="502920" y="914400"/>
            <a:ext cx="2194560" cy="1234440"/>
          </a:xfrm>
          <a:prstGeom prst="rect">
            <a:avLst/>
          </a:prstGeom>
          <a:solidFill>
            <a:srgbClr val="0B1F1A"/>
          </a:solidFill>
          <a:ln w="12700">
            <a:solidFill>
              <a:srgbClr val="0B1F1A"/>
            </a:solidFill>
            <a:prstDash val="solid"/>
          </a:ln>
          <a:effectLst>
            <a:outerShdw blurRad="127000" dist="50800" dir="8100000" algn="bl" rotWithShape="0">
              <a:srgbClr val="000000">
                <a:alpha val="12000"/>
              </a:srgbClr>
            </a:outerShdw>
          </a:effectLst>
        </p:spPr>
        <p:txBody>
          <a:bodyPr/>
          <a:lstStyle/>
          <a:p>
            <a:endParaRPr lang="en-US"/>
          </a:p>
        </p:txBody>
      </p:sp>
      <p:sp>
        <p:nvSpPr>
          <p:cNvPr id="6" name="Text 4"/>
          <p:cNvSpPr/>
          <p:nvPr/>
        </p:nvSpPr>
        <p:spPr>
          <a:xfrm>
            <a:off x="502920" y="960120"/>
            <a:ext cx="2194560" cy="777240"/>
          </a:xfrm>
          <a:prstGeom prst="rect">
            <a:avLst/>
          </a:prstGeom>
          <a:noFill/>
          <a:ln/>
        </p:spPr>
        <p:txBody>
          <a:bodyPr wrap="square" lIns="0" tIns="0" rIns="0" bIns="0" rtlCol="0" anchor="ctr"/>
          <a:lstStyle/>
          <a:p>
            <a:pPr marL="0" indent="0" algn="ctr">
              <a:buNone/>
            </a:pPr>
            <a:r>
              <a:rPr lang="en-US" sz="4000" b="1" dirty="0">
                <a:solidFill>
                  <a:srgbClr val="1A7A6A"/>
                </a:solidFill>
                <a:latin typeface="Georgia" pitchFamily="34" charset="0"/>
                <a:ea typeface="Georgia" pitchFamily="34" charset="-122"/>
                <a:cs typeface="Georgia" pitchFamily="34" charset="-120"/>
              </a:rPr>
              <a:t>0.710</a:t>
            </a:r>
            <a:endParaRPr lang="en-US" sz="4000" dirty="0"/>
          </a:p>
        </p:txBody>
      </p:sp>
      <p:sp>
        <p:nvSpPr>
          <p:cNvPr id="7" name="Text 5"/>
          <p:cNvSpPr/>
          <p:nvPr/>
        </p:nvSpPr>
        <p:spPr>
          <a:xfrm>
            <a:off x="502920" y="1691640"/>
            <a:ext cx="2194560" cy="347472"/>
          </a:xfrm>
          <a:prstGeom prst="rect">
            <a:avLst/>
          </a:prstGeom>
          <a:noFill/>
          <a:ln/>
        </p:spPr>
        <p:txBody>
          <a:bodyPr wrap="square" lIns="0" tIns="0" rIns="0" bIns="0" rtlCol="0" anchor="ctr"/>
          <a:lstStyle/>
          <a:p>
            <a:pPr marL="0" indent="0" algn="ctr">
              <a:buNone/>
            </a:pPr>
            <a:r>
              <a:rPr lang="en-US" sz="1200" dirty="0">
                <a:solidFill>
                  <a:srgbClr val="7A9E99"/>
                </a:solidFill>
                <a:latin typeface="Calibri" pitchFamily="34" charset="0"/>
                <a:ea typeface="Calibri" pitchFamily="34" charset="-122"/>
                <a:cs typeface="Calibri" pitchFamily="34" charset="-120"/>
              </a:rPr>
              <a:t>ROC-AUC</a:t>
            </a:r>
            <a:endParaRPr lang="en-US" sz="1200" dirty="0"/>
          </a:p>
        </p:txBody>
      </p:sp>
      <p:sp>
        <p:nvSpPr>
          <p:cNvPr id="8" name="Shape 6"/>
          <p:cNvSpPr/>
          <p:nvPr/>
        </p:nvSpPr>
        <p:spPr>
          <a:xfrm>
            <a:off x="3063240" y="914400"/>
            <a:ext cx="2194560" cy="1234440"/>
          </a:xfrm>
          <a:prstGeom prst="rect">
            <a:avLst/>
          </a:prstGeom>
          <a:solidFill>
            <a:srgbClr val="0B1F1A"/>
          </a:solidFill>
          <a:ln w="12700">
            <a:solidFill>
              <a:srgbClr val="0B1F1A"/>
            </a:solidFill>
            <a:prstDash val="solid"/>
          </a:ln>
          <a:effectLst>
            <a:outerShdw blurRad="127000" dist="50800" dir="8100000" algn="bl" rotWithShape="0">
              <a:srgbClr val="000000">
                <a:alpha val="12000"/>
              </a:srgbClr>
            </a:outerShdw>
          </a:effectLst>
        </p:spPr>
        <p:txBody>
          <a:bodyPr/>
          <a:lstStyle/>
          <a:p>
            <a:endParaRPr lang="en-US"/>
          </a:p>
        </p:txBody>
      </p:sp>
      <p:sp>
        <p:nvSpPr>
          <p:cNvPr id="9" name="Text 7"/>
          <p:cNvSpPr/>
          <p:nvPr/>
        </p:nvSpPr>
        <p:spPr>
          <a:xfrm>
            <a:off x="3063240" y="960120"/>
            <a:ext cx="2194560" cy="777240"/>
          </a:xfrm>
          <a:prstGeom prst="rect">
            <a:avLst/>
          </a:prstGeom>
          <a:noFill/>
          <a:ln/>
        </p:spPr>
        <p:txBody>
          <a:bodyPr wrap="square" lIns="0" tIns="0" rIns="0" bIns="0" rtlCol="0" anchor="ctr"/>
          <a:lstStyle/>
          <a:p>
            <a:pPr marL="0" indent="0" algn="ctr">
              <a:buNone/>
            </a:pPr>
            <a:r>
              <a:rPr lang="en-US" sz="4000" b="1" dirty="0">
                <a:solidFill>
                  <a:srgbClr val="1A7A6A"/>
                </a:solidFill>
                <a:latin typeface="Georgia" pitchFamily="34" charset="0"/>
                <a:ea typeface="Georgia" pitchFamily="34" charset="-122"/>
                <a:cs typeface="Georgia" pitchFamily="34" charset="-120"/>
              </a:rPr>
              <a:t>0.152</a:t>
            </a:r>
            <a:endParaRPr lang="en-US" sz="4000" dirty="0"/>
          </a:p>
        </p:txBody>
      </p:sp>
      <p:sp>
        <p:nvSpPr>
          <p:cNvPr id="10" name="Text 8"/>
          <p:cNvSpPr/>
          <p:nvPr/>
        </p:nvSpPr>
        <p:spPr>
          <a:xfrm>
            <a:off x="3063240" y="1691640"/>
            <a:ext cx="2194560" cy="347472"/>
          </a:xfrm>
          <a:prstGeom prst="rect">
            <a:avLst/>
          </a:prstGeom>
          <a:noFill/>
          <a:ln/>
        </p:spPr>
        <p:txBody>
          <a:bodyPr wrap="square" lIns="0" tIns="0" rIns="0" bIns="0" rtlCol="0" anchor="ctr"/>
          <a:lstStyle/>
          <a:p>
            <a:pPr marL="0" indent="0" algn="ctr">
              <a:buNone/>
            </a:pPr>
            <a:r>
              <a:rPr lang="en-US" sz="1200" dirty="0">
                <a:solidFill>
                  <a:srgbClr val="7A9E99"/>
                </a:solidFill>
                <a:latin typeface="Calibri" pitchFamily="34" charset="0"/>
                <a:ea typeface="Calibri" pitchFamily="34" charset="-122"/>
                <a:cs typeface="Calibri" pitchFamily="34" charset="-120"/>
              </a:rPr>
              <a:t>PR-AUC</a:t>
            </a:r>
            <a:endParaRPr lang="en-US" sz="1200" dirty="0"/>
          </a:p>
        </p:txBody>
      </p:sp>
      <p:sp>
        <p:nvSpPr>
          <p:cNvPr id="11" name="Shape 9"/>
          <p:cNvSpPr/>
          <p:nvPr/>
        </p:nvSpPr>
        <p:spPr>
          <a:xfrm>
            <a:off x="5212080" y="904352"/>
            <a:ext cx="3611880" cy="1252728"/>
          </a:xfrm>
          <a:prstGeom prst="rect">
            <a:avLst/>
          </a:prstGeom>
          <a:solidFill>
            <a:srgbClr val="E8F4F2"/>
          </a:solidFill>
          <a:ln w="635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2" name="Text 10"/>
          <p:cNvSpPr/>
          <p:nvPr/>
        </p:nvSpPr>
        <p:spPr>
          <a:xfrm>
            <a:off x="5349240" y="987552"/>
            <a:ext cx="3337560" cy="320040"/>
          </a:xfrm>
          <a:prstGeom prst="rect">
            <a:avLst/>
          </a:prstGeom>
          <a:noFill/>
          <a:ln/>
        </p:spPr>
        <p:txBody>
          <a:bodyPr wrap="square" lIns="0" tIns="0" rIns="0" bIns="0" rtlCol="0" anchor="ctr"/>
          <a:lstStyle/>
          <a:p>
            <a:pPr marL="0" indent="0">
              <a:buNone/>
            </a:pPr>
            <a:r>
              <a:rPr lang="en-US" sz="1100" b="1" dirty="0">
                <a:solidFill>
                  <a:srgbClr val="0B1F1A"/>
                </a:solidFill>
                <a:latin typeface="Calibri" pitchFamily="34" charset="0"/>
                <a:ea typeface="Calibri" pitchFamily="34" charset="-122"/>
                <a:cs typeface="Calibri" pitchFamily="34" charset="-120"/>
              </a:rPr>
              <a:t>vs. Logistic Regression</a:t>
            </a:r>
            <a:endParaRPr lang="en-US" sz="1100" dirty="0"/>
          </a:p>
        </p:txBody>
      </p:sp>
      <p:sp>
        <p:nvSpPr>
          <p:cNvPr id="13" name="Text 11"/>
          <p:cNvSpPr/>
          <p:nvPr/>
        </p:nvSpPr>
        <p:spPr>
          <a:xfrm>
            <a:off x="5349240" y="1307592"/>
            <a:ext cx="3337560" cy="731520"/>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ROC-AUC  +0.001  (marginal)</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PR-AUC   +0.010  (meaningful)</a:t>
            </a:r>
            <a:endParaRPr lang="en-US" sz="1100" dirty="0"/>
          </a:p>
          <a:p>
            <a:pPr marL="0" indent="0">
              <a:buNone/>
            </a:pPr>
            <a:r>
              <a:rPr lang="en-US" sz="1100" dirty="0">
                <a:solidFill>
                  <a:srgbClr val="555555"/>
                </a:solidFill>
                <a:latin typeface="Calibri" pitchFamily="34" charset="0"/>
                <a:ea typeface="Calibri" pitchFamily="34" charset="-122"/>
                <a:cs typeface="Calibri" pitchFamily="34" charset="-120"/>
              </a:rPr>
              <a:t>Training cost: low</a:t>
            </a:r>
            <a:endParaRPr lang="en-US" sz="1100" dirty="0"/>
          </a:p>
        </p:txBody>
      </p:sp>
      <p:sp>
        <p:nvSpPr>
          <p:cNvPr id="14" name="Shape 12"/>
          <p:cNvSpPr/>
          <p:nvPr/>
        </p:nvSpPr>
        <p:spPr>
          <a:xfrm>
            <a:off x="502920" y="2331720"/>
            <a:ext cx="8321040" cy="2514600"/>
          </a:xfrm>
          <a:prstGeom prst="rect">
            <a:avLst/>
          </a:prstGeom>
          <a:solidFill>
            <a:srgbClr val="E8F4F2"/>
          </a:solidFill>
          <a:ln w="635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5" name="Shape 13"/>
          <p:cNvSpPr/>
          <p:nvPr/>
        </p:nvSpPr>
        <p:spPr>
          <a:xfrm>
            <a:off x="502920" y="2331720"/>
            <a:ext cx="164592" cy="2514600"/>
          </a:xfrm>
          <a:prstGeom prst="rect">
            <a:avLst/>
          </a:prstGeom>
          <a:solidFill>
            <a:srgbClr val="1A7A6A"/>
          </a:solidFill>
          <a:ln w="12700">
            <a:solidFill>
              <a:srgbClr val="1A7A6A"/>
            </a:solidFill>
            <a:prstDash val="solid"/>
          </a:ln>
        </p:spPr>
        <p:txBody>
          <a:bodyPr/>
          <a:lstStyle/>
          <a:p>
            <a:endParaRPr lang="en-US"/>
          </a:p>
        </p:txBody>
      </p:sp>
      <p:sp>
        <p:nvSpPr>
          <p:cNvPr id="16" name="Text 14"/>
          <p:cNvSpPr/>
          <p:nvPr/>
        </p:nvSpPr>
        <p:spPr>
          <a:xfrm>
            <a:off x="904350" y="2423160"/>
            <a:ext cx="7736729" cy="347472"/>
          </a:xfrm>
          <a:prstGeom prst="rect">
            <a:avLst/>
          </a:prstGeom>
          <a:noFill/>
          <a:ln/>
        </p:spPr>
        <p:txBody>
          <a:bodyPr wrap="square" lIns="0" tIns="0" rIns="0" bIns="0" rtlCol="0" anchor="ctr"/>
          <a:lstStyle/>
          <a:p>
            <a:pPr marL="0" indent="0">
              <a:buNone/>
            </a:pPr>
            <a:r>
              <a:rPr lang="en-US" sz="1200" b="1" dirty="0">
                <a:solidFill>
                  <a:srgbClr val="0B1F1A"/>
                </a:solidFill>
                <a:latin typeface="Calibri" pitchFamily="34" charset="0"/>
                <a:ea typeface="Calibri" pitchFamily="34" charset="-122"/>
                <a:cs typeface="Calibri" pitchFamily="34" charset="-120"/>
              </a:rPr>
              <a:t>Interpretation</a:t>
            </a:r>
            <a:endParaRPr lang="en-US" sz="1200" dirty="0"/>
          </a:p>
        </p:txBody>
      </p:sp>
      <p:sp>
        <p:nvSpPr>
          <p:cNvPr id="17" name="Text 15"/>
          <p:cNvSpPr/>
          <p:nvPr/>
        </p:nvSpPr>
        <p:spPr>
          <a:xfrm>
            <a:off x="904352" y="2816352"/>
            <a:ext cx="7736728" cy="1920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The MLP adds nonlinear capacity over logistic regression, allowing it to model interactions between distance and angle. The modest ROC-AUC gain (+0.001) suggests the linear assumption wasn't far off for ranking shots.</a:t>
            </a:r>
            <a:endParaRPr lang="en-US" sz="1250" dirty="0"/>
          </a:p>
          <a:p>
            <a:pPr marL="0" indent="0">
              <a:buNone/>
            </a:pP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The PR-AUC gain (+0.010) is more meaningful; under class imbalance, better precision on the positive class matters. But the feature space is still limited to two engineered variables. The MLP doesn't explicitly use spatial structure.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56032"/>
            <a:ext cx="2743200" cy="566928"/>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Spatial CNN:</a:t>
            </a:r>
            <a:endParaRPr lang="en-US" sz="2600" b="1" dirty="0"/>
          </a:p>
        </p:txBody>
      </p:sp>
      <p:sp>
        <p:nvSpPr>
          <p:cNvPr id="3" name="Text 1"/>
          <p:cNvSpPr/>
          <p:nvPr/>
        </p:nvSpPr>
        <p:spPr>
          <a:xfrm>
            <a:off x="2877345" y="265176"/>
            <a:ext cx="6400800" cy="566928"/>
          </a:xfrm>
          <a:prstGeom prst="rect">
            <a:avLst/>
          </a:prstGeom>
          <a:noFill/>
          <a:ln/>
        </p:spPr>
        <p:txBody>
          <a:bodyPr wrap="square" lIns="0" tIns="0" rIns="0" bIns="0" rtlCol="0" anchor="ctr"/>
          <a:lstStyle/>
          <a:p>
            <a:pPr marL="0" indent="0">
              <a:buNone/>
            </a:pPr>
            <a:endParaRPr lang="en-US" sz="2600" dirty="0"/>
          </a:p>
        </p:txBody>
      </p:sp>
      <p:sp>
        <p:nvSpPr>
          <p:cNvPr id="4" name="Shape 2"/>
          <p:cNvSpPr/>
          <p:nvPr/>
        </p:nvSpPr>
        <p:spPr>
          <a:xfrm>
            <a:off x="502920" y="804672"/>
            <a:ext cx="8229600" cy="18288"/>
          </a:xfrm>
          <a:prstGeom prst="rect">
            <a:avLst/>
          </a:prstGeom>
          <a:solidFill>
            <a:srgbClr val="DDEAE8"/>
          </a:solidFill>
          <a:ln w="12700">
            <a:solidFill>
              <a:srgbClr val="DDEAE8"/>
            </a:solidFill>
            <a:prstDash val="solid"/>
          </a:ln>
        </p:spPr>
        <p:txBody>
          <a:bodyPr/>
          <a:lstStyle/>
          <a:p>
            <a:endParaRPr lang="en-US"/>
          </a:p>
        </p:txBody>
      </p:sp>
      <p:sp>
        <p:nvSpPr>
          <p:cNvPr id="5" name="Shape 3"/>
          <p:cNvSpPr/>
          <p:nvPr/>
        </p:nvSpPr>
        <p:spPr>
          <a:xfrm>
            <a:off x="497896" y="969264"/>
            <a:ext cx="3931920" cy="1920240"/>
          </a:xfrm>
          <a:prstGeom prst="rect">
            <a:avLst/>
          </a:prstGeom>
          <a:solidFill>
            <a:srgbClr val="FFFFFF"/>
          </a:solidFill>
          <a:ln w="6350">
            <a:solidFill>
              <a:srgbClr val="F0D0CE"/>
            </a:solidFill>
            <a:prstDash val="solid"/>
          </a:ln>
          <a:effectLst>
            <a:outerShdw blurRad="127000" dist="50800" dir="8100000" algn="bl" rotWithShape="0">
              <a:srgbClr val="000000">
                <a:alpha val="12000"/>
              </a:srgbClr>
            </a:outerShdw>
          </a:effectLst>
        </p:spPr>
        <p:txBody>
          <a:bodyPr/>
          <a:lstStyle/>
          <a:p>
            <a:endParaRPr lang="en-US"/>
          </a:p>
        </p:txBody>
      </p:sp>
      <p:sp>
        <p:nvSpPr>
          <p:cNvPr id="6" name="Shape 4"/>
          <p:cNvSpPr/>
          <p:nvPr/>
        </p:nvSpPr>
        <p:spPr>
          <a:xfrm>
            <a:off x="497896" y="969264"/>
            <a:ext cx="164592" cy="1920240"/>
          </a:xfrm>
          <a:prstGeom prst="rect">
            <a:avLst/>
          </a:prstGeom>
          <a:solidFill>
            <a:srgbClr val="C0392B"/>
          </a:solidFill>
          <a:ln w="12700">
            <a:solidFill>
              <a:srgbClr val="C0392B"/>
            </a:solidFill>
            <a:prstDash val="solid"/>
          </a:ln>
        </p:spPr>
        <p:txBody>
          <a:bodyPr/>
          <a:lstStyle/>
          <a:p>
            <a:endParaRPr lang="en-US"/>
          </a:p>
        </p:txBody>
      </p:sp>
      <p:sp>
        <p:nvSpPr>
          <p:cNvPr id="7" name="Text 5"/>
          <p:cNvSpPr/>
          <p:nvPr/>
        </p:nvSpPr>
        <p:spPr>
          <a:xfrm>
            <a:off x="772216" y="1042416"/>
            <a:ext cx="3657600" cy="347472"/>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1-Channel CNN  —  ROC-AUC: 0.658</a:t>
            </a:r>
            <a:endParaRPr lang="en-US" sz="1200" dirty="0"/>
          </a:p>
        </p:txBody>
      </p:sp>
      <p:sp>
        <p:nvSpPr>
          <p:cNvPr id="8" name="Text 6"/>
          <p:cNvSpPr/>
          <p:nvPr/>
        </p:nvSpPr>
        <p:spPr>
          <a:xfrm>
            <a:off x="772216" y="1408176"/>
            <a:ext cx="3657600" cy="1325880"/>
          </a:xfrm>
          <a:prstGeom prst="rect">
            <a:avLst/>
          </a:prstGeom>
          <a:noFill/>
          <a:ln/>
        </p:spPr>
        <p:txBody>
          <a:bodyPr wrap="square" lIns="0" tIns="0" rIns="0" bIns="0" rtlCol="0" anchor="t"/>
          <a:lstStyle/>
          <a:p>
            <a:pPr marL="0" indent="0">
              <a:buNone/>
            </a:pPr>
            <a:r>
              <a:rPr lang="en-US" sz="1200" dirty="0">
                <a:solidFill>
                  <a:srgbClr val="555555"/>
                </a:solidFill>
                <a:latin typeface="Calibri" pitchFamily="34" charset="0"/>
                <a:ea typeface="Calibri" pitchFamily="34" charset="-122"/>
                <a:cs typeface="Calibri" pitchFamily="34" charset="-120"/>
              </a:rPr>
              <a:t>Single spatial grid encoding shot frequency. Underperformed logistic regression.</a:t>
            </a:r>
            <a:endParaRPr lang="en-US" sz="1200" dirty="0"/>
          </a:p>
          <a:p>
            <a:pPr marL="0" indent="0">
              <a:buNone/>
            </a:pPr>
            <a:endParaRPr lang="en-US" sz="1200" dirty="0"/>
          </a:p>
          <a:p>
            <a:pPr marL="0" indent="0">
              <a:buNone/>
            </a:pPr>
            <a:r>
              <a:rPr lang="en-US" sz="1200" dirty="0">
                <a:solidFill>
                  <a:srgbClr val="555555"/>
                </a:solidFill>
                <a:latin typeface="Calibri" pitchFamily="34" charset="0"/>
                <a:ea typeface="Calibri" pitchFamily="34" charset="-122"/>
                <a:cs typeface="Calibri" pitchFamily="34" charset="-120"/>
              </a:rPr>
              <a:t>Why this failed: one channel can't separate where shots happen from where goals happen. The model learned density, not danger.</a:t>
            </a:r>
            <a:endParaRPr lang="en-US" sz="1200" dirty="0"/>
          </a:p>
        </p:txBody>
      </p:sp>
      <p:sp>
        <p:nvSpPr>
          <p:cNvPr id="11" name="Shape 9"/>
          <p:cNvSpPr/>
          <p:nvPr/>
        </p:nvSpPr>
        <p:spPr>
          <a:xfrm>
            <a:off x="4663440" y="969264"/>
            <a:ext cx="4069080" cy="1920240"/>
          </a:xfrm>
          <a:prstGeom prst="rect">
            <a:avLst/>
          </a:prstGeom>
          <a:solidFill>
            <a:srgbClr val="FFFFFF"/>
          </a:solidFill>
          <a:ln w="6350">
            <a:solidFill>
              <a:srgbClr val="C8E8E4"/>
            </a:solidFill>
            <a:prstDash val="solid"/>
          </a:ln>
          <a:effectLst>
            <a:outerShdw blurRad="127000" dist="50800" dir="8100000" algn="bl" rotWithShape="0">
              <a:srgbClr val="000000">
                <a:alpha val="12000"/>
              </a:srgbClr>
            </a:outerShdw>
          </a:effectLst>
        </p:spPr>
        <p:txBody>
          <a:bodyPr/>
          <a:lstStyle/>
          <a:p>
            <a:endParaRPr lang="en-US"/>
          </a:p>
        </p:txBody>
      </p:sp>
      <p:sp>
        <p:nvSpPr>
          <p:cNvPr id="12" name="Shape 10"/>
          <p:cNvSpPr/>
          <p:nvPr/>
        </p:nvSpPr>
        <p:spPr>
          <a:xfrm>
            <a:off x="4663440" y="969264"/>
            <a:ext cx="164592" cy="1920240"/>
          </a:xfrm>
          <a:prstGeom prst="rect">
            <a:avLst/>
          </a:prstGeom>
          <a:solidFill>
            <a:srgbClr val="1A7A6A"/>
          </a:solidFill>
          <a:ln w="12700">
            <a:solidFill>
              <a:srgbClr val="1A7A6A"/>
            </a:solidFill>
            <a:prstDash val="solid"/>
          </a:ln>
        </p:spPr>
        <p:txBody>
          <a:bodyPr/>
          <a:lstStyle/>
          <a:p>
            <a:endParaRPr lang="en-US"/>
          </a:p>
        </p:txBody>
      </p:sp>
      <p:sp>
        <p:nvSpPr>
          <p:cNvPr id="13" name="Text 11"/>
          <p:cNvSpPr/>
          <p:nvPr/>
        </p:nvSpPr>
        <p:spPr>
          <a:xfrm>
            <a:off x="4937760" y="1042416"/>
            <a:ext cx="3657600" cy="347472"/>
          </a:xfrm>
          <a:prstGeom prst="rect">
            <a:avLst/>
          </a:prstGeom>
          <a:noFill/>
          <a:ln/>
        </p:spPr>
        <p:txBody>
          <a:bodyPr wrap="square" lIns="0" tIns="0" rIns="0" bIns="0" rtlCol="0" anchor="ctr"/>
          <a:lstStyle/>
          <a:p>
            <a:pPr marL="0" indent="0">
              <a:buNone/>
            </a:pPr>
            <a:r>
              <a:rPr lang="en-US" sz="1200" b="1" dirty="0">
                <a:solidFill>
                  <a:srgbClr val="1A7A6A"/>
                </a:solidFill>
                <a:latin typeface="Calibri" pitchFamily="34" charset="0"/>
                <a:ea typeface="Calibri" pitchFamily="34" charset="-122"/>
                <a:cs typeface="Calibri" pitchFamily="34" charset="-120"/>
              </a:rPr>
              <a:t>3-Channel CNN  —  ROC-AUC: 0.715</a:t>
            </a:r>
            <a:endParaRPr lang="en-US" sz="1200" dirty="0"/>
          </a:p>
        </p:txBody>
      </p:sp>
      <p:sp>
        <p:nvSpPr>
          <p:cNvPr id="14" name="Text 12"/>
          <p:cNvSpPr/>
          <p:nvPr/>
        </p:nvSpPr>
        <p:spPr>
          <a:xfrm>
            <a:off x="4937760" y="1408176"/>
            <a:ext cx="3657600" cy="1371600"/>
          </a:xfrm>
          <a:prstGeom prst="rect">
            <a:avLst/>
          </a:prstGeom>
          <a:noFill/>
          <a:ln/>
        </p:spPr>
        <p:txBody>
          <a:bodyPr wrap="square" lIns="0" tIns="0" rIns="0" bIns="0" rtlCol="0" anchor="t"/>
          <a:lstStyle/>
          <a:p>
            <a:pPr marL="0" indent="0">
              <a:buNone/>
            </a:pPr>
            <a:r>
              <a:rPr lang="en-US" sz="1200" b="1" dirty="0">
                <a:solidFill>
                  <a:srgbClr val="444444"/>
                </a:solidFill>
                <a:latin typeface="Calibri" pitchFamily="34" charset="0"/>
                <a:ea typeface="Calibri" pitchFamily="34" charset="-122"/>
                <a:cs typeface="Calibri" pitchFamily="34" charset="-120"/>
              </a:rPr>
              <a:t>Channel 1: </a:t>
            </a:r>
            <a:r>
              <a:rPr lang="en-US" sz="1200" dirty="0">
                <a:solidFill>
                  <a:srgbClr val="444444"/>
                </a:solidFill>
                <a:latin typeface="Calibri" pitchFamily="34" charset="0"/>
                <a:ea typeface="Calibri" pitchFamily="34" charset="-122"/>
                <a:cs typeface="Calibri" pitchFamily="34" charset="-120"/>
              </a:rPr>
              <a:t>Shot location grid
</a:t>
            </a:r>
            <a:r>
              <a:rPr lang="en-US" sz="1200" b="1" dirty="0">
                <a:solidFill>
                  <a:srgbClr val="444444"/>
                </a:solidFill>
                <a:latin typeface="Calibri" pitchFamily="34" charset="0"/>
                <a:ea typeface="Calibri" pitchFamily="34" charset="-122"/>
                <a:cs typeface="Calibri" pitchFamily="34" charset="-120"/>
              </a:rPr>
              <a:t>Channel 2: </a:t>
            </a:r>
            <a:r>
              <a:rPr lang="en-US" sz="1200" dirty="0">
                <a:solidFill>
                  <a:srgbClr val="444444"/>
                </a:solidFill>
                <a:latin typeface="Calibri" pitchFamily="34" charset="0"/>
                <a:ea typeface="Calibri" pitchFamily="34" charset="-122"/>
                <a:cs typeface="Calibri" pitchFamily="34" charset="-120"/>
              </a:rPr>
              <a:t>Distance map
</a:t>
            </a:r>
            <a:r>
              <a:rPr lang="en-US" sz="1200" b="1" dirty="0">
                <a:solidFill>
                  <a:srgbClr val="444444"/>
                </a:solidFill>
                <a:latin typeface="Calibri" pitchFamily="34" charset="0"/>
                <a:ea typeface="Calibri" pitchFamily="34" charset="-122"/>
                <a:cs typeface="Calibri" pitchFamily="34" charset="-120"/>
              </a:rPr>
              <a:t>Channel 3: </a:t>
            </a:r>
            <a:r>
              <a:rPr lang="en-US" sz="1200" dirty="0">
                <a:solidFill>
                  <a:srgbClr val="444444"/>
                </a:solidFill>
                <a:latin typeface="Calibri" pitchFamily="34" charset="0"/>
                <a:ea typeface="Calibri" pitchFamily="34" charset="-122"/>
                <a:cs typeface="Calibri" pitchFamily="34" charset="-120"/>
              </a:rPr>
              <a:t>Angle map
Each layer adds a different spatial signal. Now the network can learn danger, not just density.</a:t>
            </a:r>
            <a:endParaRPr lang="en-US" sz="1200" dirty="0"/>
          </a:p>
        </p:txBody>
      </p:sp>
      <p:sp>
        <p:nvSpPr>
          <p:cNvPr id="15" name="Shape 13"/>
          <p:cNvSpPr/>
          <p:nvPr/>
        </p:nvSpPr>
        <p:spPr>
          <a:xfrm>
            <a:off x="497896" y="3063240"/>
            <a:ext cx="8234624" cy="1810512"/>
          </a:xfrm>
          <a:prstGeom prst="rect">
            <a:avLst/>
          </a:prstGeom>
          <a:solidFill>
            <a:srgbClr val="0B1F1A"/>
          </a:solidFill>
          <a:ln w="12700">
            <a:solidFill>
              <a:srgbClr val="0B1F1A"/>
            </a:solidFill>
            <a:prstDash val="solid"/>
          </a:ln>
          <a:effectLst>
            <a:outerShdw blurRad="127000" dist="50800" dir="8100000" algn="bl" rotWithShape="0">
              <a:srgbClr val="000000">
                <a:alpha val="12000"/>
              </a:srgbClr>
            </a:outerShdw>
          </a:effectLst>
        </p:spPr>
        <p:txBody>
          <a:bodyPr/>
          <a:lstStyle/>
          <a:p>
            <a:endParaRPr lang="en-US"/>
          </a:p>
        </p:txBody>
      </p:sp>
      <p:sp>
        <p:nvSpPr>
          <p:cNvPr id="16" name="Text 14"/>
          <p:cNvSpPr/>
          <p:nvPr/>
        </p:nvSpPr>
        <p:spPr>
          <a:xfrm>
            <a:off x="772216" y="3200400"/>
            <a:ext cx="7960304" cy="347472"/>
          </a:xfrm>
          <a:prstGeom prst="rect">
            <a:avLst/>
          </a:prstGeom>
          <a:noFill/>
          <a:ln/>
        </p:spPr>
        <p:txBody>
          <a:bodyPr wrap="square" lIns="0" tIns="0" rIns="0" bIns="0" rtlCol="0" anchor="ctr"/>
          <a:lstStyle/>
          <a:p>
            <a:pPr marL="0" indent="0">
              <a:buNone/>
            </a:pPr>
            <a:r>
              <a:rPr lang="en-US" sz="1400" b="1" dirty="0">
                <a:solidFill>
                  <a:srgbClr val="1A7A6A"/>
                </a:solidFill>
                <a:latin typeface="Calibri" pitchFamily="34" charset="0"/>
                <a:ea typeface="Calibri" pitchFamily="34" charset="-122"/>
                <a:cs typeface="Calibri" pitchFamily="34" charset="-120"/>
              </a:rPr>
              <a:t>The lesson: model performance is not just about depth or complexity.</a:t>
            </a:r>
            <a:endParaRPr lang="en-US" sz="1400" dirty="0"/>
          </a:p>
        </p:txBody>
      </p:sp>
      <p:sp>
        <p:nvSpPr>
          <p:cNvPr id="17" name="Text 15"/>
          <p:cNvSpPr/>
          <p:nvPr/>
        </p:nvSpPr>
        <p:spPr>
          <a:xfrm>
            <a:off x="772216" y="3593592"/>
            <a:ext cx="7777423" cy="1097280"/>
          </a:xfrm>
          <a:prstGeom prst="rect">
            <a:avLst/>
          </a:prstGeom>
          <a:noFill/>
          <a:ln/>
        </p:spPr>
        <p:txBody>
          <a:bodyPr wrap="square" lIns="0" tIns="0" rIns="0" bIns="0" rtlCol="0" anchor="t"/>
          <a:lstStyle/>
          <a:p>
            <a:pPr marL="0" indent="0">
              <a:buNone/>
            </a:pPr>
            <a:r>
              <a:rPr lang="en-US" sz="1300" dirty="0">
                <a:solidFill>
                  <a:srgbClr val="B8DDD8"/>
                </a:solidFill>
                <a:latin typeface="Calibri" pitchFamily="34" charset="0"/>
                <a:ea typeface="Calibri" pitchFamily="34" charset="-122"/>
                <a:cs typeface="Calibri" pitchFamily="34" charset="-120"/>
              </a:rPr>
              <a:t>The architecture was the same. The representation changed. That was enough to flip the CNN from worst performer to best. Input encoding matters as much as model capacity.</a:t>
            </a:r>
            <a:endParaRPr lang="en-US" sz="1300" dirty="0"/>
          </a:p>
        </p:txBody>
      </p:sp>
      <p:sp>
        <p:nvSpPr>
          <p:cNvPr id="18" name="Text 1">
            <a:extLst>
              <a:ext uri="{FF2B5EF4-FFF2-40B4-BE49-F238E27FC236}">
                <a16:creationId xmlns:a16="http://schemas.microsoft.com/office/drawing/2014/main" id="{DD055C21-A38B-4EDC-3867-07C9B2856694}"/>
              </a:ext>
            </a:extLst>
          </p:cNvPr>
          <p:cNvSpPr/>
          <p:nvPr/>
        </p:nvSpPr>
        <p:spPr>
          <a:xfrm>
            <a:off x="2877344" y="256032"/>
            <a:ext cx="5672295" cy="566928"/>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3-Channel CNN Success</a:t>
            </a:r>
            <a:endParaRPr lang="en-US" sz="2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594360"/>
          </a:xfrm>
          <a:prstGeom prst="rect">
            <a:avLst/>
          </a:prstGeom>
          <a:noFill/>
          <a:ln/>
        </p:spPr>
        <p:txBody>
          <a:bodyPr wrap="square" lIns="0" tIns="0" rIns="0" bIns="0" rtlCol="0" anchor="ctr"/>
          <a:lstStyle/>
          <a:p>
            <a:pPr marL="0" indent="0">
              <a:buNone/>
            </a:pPr>
            <a:r>
              <a:rPr lang="en-US" sz="2800" b="1" dirty="0">
                <a:solidFill>
                  <a:srgbClr val="0B1F1A"/>
                </a:solidFill>
                <a:latin typeface="Georgia" pitchFamily="34" charset="0"/>
                <a:ea typeface="Georgia" pitchFamily="34" charset="-122"/>
                <a:cs typeface="Georgia" pitchFamily="34" charset="-120"/>
              </a:rPr>
              <a:t>Hyperparameter Tuning</a:t>
            </a:r>
            <a:endParaRPr lang="en-US" sz="2800" dirty="0"/>
          </a:p>
        </p:txBody>
      </p:sp>
      <p:sp>
        <p:nvSpPr>
          <p:cNvPr id="3" name="Shape 1"/>
          <p:cNvSpPr/>
          <p:nvPr/>
        </p:nvSpPr>
        <p:spPr>
          <a:xfrm>
            <a:off x="502920" y="841248"/>
            <a:ext cx="8229600" cy="18288"/>
          </a:xfrm>
          <a:prstGeom prst="rect">
            <a:avLst/>
          </a:prstGeom>
          <a:solidFill>
            <a:srgbClr val="DDEAE8"/>
          </a:solidFill>
          <a:ln w="12700">
            <a:solidFill>
              <a:srgbClr val="DDEAE8"/>
            </a:solidFill>
            <a:prstDash val="solid"/>
          </a:ln>
        </p:spPr>
        <p:txBody>
          <a:bodyPr/>
          <a:lstStyle/>
          <a:p>
            <a:endParaRPr lang="en-US"/>
          </a:p>
        </p:txBody>
      </p:sp>
      <p:sp>
        <p:nvSpPr>
          <p:cNvPr id="4" name="Shape 2"/>
          <p:cNvSpPr/>
          <p:nvPr/>
        </p:nvSpPr>
        <p:spPr>
          <a:xfrm>
            <a:off x="502920" y="1051560"/>
            <a:ext cx="8229600" cy="1170432"/>
          </a:xfrm>
          <a:prstGeom prst="rect">
            <a:avLst/>
          </a:prstGeom>
          <a:solidFill>
            <a:srgbClr val="E8F4F2"/>
          </a:solidFill>
          <a:ln w="381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5" name="Shape 3"/>
          <p:cNvSpPr/>
          <p:nvPr/>
        </p:nvSpPr>
        <p:spPr>
          <a:xfrm>
            <a:off x="490856" y="1051560"/>
            <a:ext cx="164592" cy="1170432"/>
          </a:xfrm>
          <a:prstGeom prst="rect">
            <a:avLst/>
          </a:prstGeom>
          <a:solidFill>
            <a:srgbClr val="1A7A6A"/>
          </a:solidFill>
          <a:ln w="12700">
            <a:solidFill>
              <a:srgbClr val="1A7A6A"/>
            </a:solidFill>
            <a:prstDash val="solid"/>
          </a:ln>
        </p:spPr>
        <p:txBody>
          <a:bodyPr/>
          <a:lstStyle/>
          <a:p>
            <a:endParaRPr lang="en-US"/>
          </a:p>
        </p:txBody>
      </p:sp>
      <p:sp>
        <p:nvSpPr>
          <p:cNvPr id="6" name="Text 4"/>
          <p:cNvSpPr/>
          <p:nvPr/>
        </p:nvSpPr>
        <p:spPr>
          <a:xfrm>
            <a:off x="755128" y="1143000"/>
            <a:ext cx="1828800" cy="347472"/>
          </a:xfrm>
          <a:prstGeom prst="rect">
            <a:avLst/>
          </a:prstGeom>
          <a:noFill/>
          <a:ln/>
        </p:spPr>
        <p:txBody>
          <a:bodyPr wrap="square" lIns="0" tIns="0" rIns="0" bIns="0" rtlCol="0" anchor="ctr"/>
          <a:lstStyle/>
          <a:p>
            <a:pPr marL="0" indent="0">
              <a:buNone/>
            </a:pPr>
            <a:r>
              <a:rPr lang="en-US" sz="1300" b="1" dirty="0">
                <a:solidFill>
                  <a:srgbClr val="0B1F1A"/>
                </a:solidFill>
                <a:latin typeface="Calibri" pitchFamily="34" charset="0"/>
                <a:ea typeface="Calibri" pitchFamily="34" charset="-122"/>
                <a:cs typeface="Calibri" pitchFamily="34" charset="-120"/>
              </a:rPr>
              <a:t>Learning Rate</a:t>
            </a:r>
            <a:endParaRPr lang="en-US" sz="1300" dirty="0"/>
          </a:p>
        </p:txBody>
      </p:sp>
      <p:sp>
        <p:nvSpPr>
          <p:cNvPr id="7" name="Text 5"/>
          <p:cNvSpPr/>
          <p:nvPr/>
        </p:nvSpPr>
        <p:spPr>
          <a:xfrm>
            <a:off x="755128" y="1508760"/>
            <a:ext cx="1828800" cy="292608"/>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1e-3 → 5e-4</a:t>
            </a:r>
            <a:endParaRPr lang="en-US" sz="1100" dirty="0"/>
          </a:p>
        </p:txBody>
      </p:sp>
      <p:sp>
        <p:nvSpPr>
          <p:cNvPr id="8" name="Text 6"/>
          <p:cNvSpPr/>
          <p:nvPr/>
        </p:nvSpPr>
        <p:spPr>
          <a:xfrm>
            <a:off x="2560320" y="1188720"/>
            <a:ext cx="2926080" cy="34747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ROC-AUC: 0.715 → 0.717</a:t>
            </a:r>
            <a:endParaRPr lang="en-US" sz="1200" dirty="0"/>
          </a:p>
        </p:txBody>
      </p:sp>
      <p:sp>
        <p:nvSpPr>
          <p:cNvPr id="9" name="Text 7"/>
          <p:cNvSpPr/>
          <p:nvPr/>
        </p:nvSpPr>
        <p:spPr>
          <a:xfrm>
            <a:off x="2560320" y="1554480"/>
            <a:ext cx="2926080" cy="292608"/>
          </a:xfrm>
          <a:prstGeom prst="rect">
            <a:avLst/>
          </a:prstGeom>
          <a:noFill/>
          <a:ln/>
        </p:spPr>
        <p:txBody>
          <a:bodyPr wrap="square" lIns="0" tIns="0" rIns="0" bIns="0" rtlCol="0" anchor="ctr"/>
          <a:lstStyle/>
          <a:p>
            <a:pPr marL="0" indent="0">
              <a:buNone/>
            </a:pPr>
            <a:r>
              <a:rPr lang="en-US" sz="1200" b="1" dirty="0">
                <a:solidFill>
                  <a:srgbClr val="1A7A6A"/>
                </a:solidFill>
                <a:latin typeface="Calibri" pitchFamily="34" charset="0"/>
                <a:ea typeface="Calibri" pitchFamily="34" charset="-122"/>
                <a:cs typeface="Calibri" pitchFamily="34" charset="-120"/>
              </a:rPr>
              <a:t>✓ Meaningful gain</a:t>
            </a:r>
            <a:endParaRPr lang="en-US" sz="1200" dirty="0"/>
          </a:p>
        </p:txBody>
      </p:sp>
      <p:sp>
        <p:nvSpPr>
          <p:cNvPr id="10" name="Text 8"/>
          <p:cNvSpPr/>
          <p:nvPr/>
        </p:nvSpPr>
        <p:spPr>
          <a:xfrm>
            <a:off x="5577840" y="1143000"/>
            <a:ext cx="3108960" cy="96012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More stable gradient updates. Biggest single improvement.</a:t>
            </a:r>
            <a:endParaRPr lang="en-US" sz="1100" dirty="0"/>
          </a:p>
        </p:txBody>
      </p:sp>
      <p:sp>
        <p:nvSpPr>
          <p:cNvPr id="11" name="Shape 9"/>
          <p:cNvSpPr/>
          <p:nvPr/>
        </p:nvSpPr>
        <p:spPr>
          <a:xfrm>
            <a:off x="484632" y="2350008"/>
            <a:ext cx="8247888" cy="1170432"/>
          </a:xfrm>
          <a:prstGeom prst="rect">
            <a:avLst/>
          </a:prstGeom>
          <a:solidFill>
            <a:srgbClr val="E8F4F2"/>
          </a:solidFill>
          <a:ln w="381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2" name="Shape 10"/>
          <p:cNvSpPr/>
          <p:nvPr/>
        </p:nvSpPr>
        <p:spPr>
          <a:xfrm>
            <a:off x="490856" y="2350008"/>
            <a:ext cx="164592" cy="1170432"/>
          </a:xfrm>
          <a:prstGeom prst="rect">
            <a:avLst/>
          </a:prstGeom>
          <a:solidFill>
            <a:srgbClr val="7A9E99"/>
          </a:solidFill>
          <a:ln w="12700">
            <a:solidFill>
              <a:srgbClr val="7A9E99"/>
            </a:solidFill>
            <a:prstDash val="solid"/>
          </a:ln>
        </p:spPr>
        <p:txBody>
          <a:bodyPr/>
          <a:lstStyle/>
          <a:p>
            <a:endParaRPr lang="en-US"/>
          </a:p>
        </p:txBody>
      </p:sp>
      <p:sp>
        <p:nvSpPr>
          <p:cNvPr id="13" name="Text 11"/>
          <p:cNvSpPr/>
          <p:nvPr/>
        </p:nvSpPr>
        <p:spPr>
          <a:xfrm>
            <a:off x="755128" y="2441448"/>
            <a:ext cx="1828800" cy="347472"/>
          </a:xfrm>
          <a:prstGeom prst="rect">
            <a:avLst/>
          </a:prstGeom>
          <a:noFill/>
          <a:ln/>
        </p:spPr>
        <p:txBody>
          <a:bodyPr wrap="square" lIns="0" tIns="0" rIns="0" bIns="0" rtlCol="0" anchor="ctr"/>
          <a:lstStyle/>
          <a:p>
            <a:pPr marL="0" indent="0">
              <a:buNone/>
            </a:pPr>
            <a:r>
              <a:rPr lang="en-US" sz="1300" b="1" dirty="0">
                <a:solidFill>
                  <a:srgbClr val="0B1F1A"/>
                </a:solidFill>
                <a:latin typeface="Calibri" pitchFamily="34" charset="0"/>
                <a:ea typeface="Calibri" pitchFamily="34" charset="-122"/>
                <a:cs typeface="Calibri" pitchFamily="34" charset="-120"/>
              </a:rPr>
              <a:t>Model Depth</a:t>
            </a:r>
            <a:endParaRPr lang="en-US" sz="1300" dirty="0"/>
          </a:p>
        </p:txBody>
      </p:sp>
      <p:sp>
        <p:nvSpPr>
          <p:cNvPr id="14" name="Text 12"/>
          <p:cNvSpPr/>
          <p:nvPr/>
        </p:nvSpPr>
        <p:spPr>
          <a:xfrm>
            <a:off x="755128" y="2807208"/>
            <a:ext cx="1828800" cy="292608"/>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Baseline → Deeper arch</a:t>
            </a:r>
            <a:endParaRPr lang="en-US" sz="1100" dirty="0"/>
          </a:p>
        </p:txBody>
      </p:sp>
      <p:sp>
        <p:nvSpPr>
          <p:cNvPr id="15" name="Text 13"/>
          <p:cNvSpPr/>
          <p:nvPr/>
        </p:nvSpPr>
        <p:spPr>
          <a:xfrm>
            <a:off x="2560320" y="2487168"/>
            <a:ext cx="2926080" cy="34747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ROC-AUC: 0.715 → 0.716</a:t>
            </a:r>
            <a:endParaRPr lang="en-US" sz="1200" dirty="0"/>
          </a:p>
        </p:txBody>
      </p:sp>
      <p:sp>
        <p:nvSpPr>
          <p:cNvPr id="16" name="Text 14"/>
          <p:cNvSpPr/>
          <p:nvPr/>
        </p:nvSpPr>
        <p:spPr>
          <a:xfrm>
            <a:off x="2560320" y="2852928"/>
            <a:ext cx="2926080" cy="292608"/>
          </a:xfrm>
          <a:prstGeom prst="rect">
            <a:avLst/>
          </a:prstGeom>
          <a:noFill/>
          <a:ln/>
        </p:spPr>
        <p:txBody>
          <a:bodyPr wrap="square" lIns="0" tIns="0" rIns="0" bIns="0" rtlCol="0" anchor="ctr"/>
          <a:lstStyle/>
          <a:p>
            <a:pPr marL="0" indent="0">
              <a:buNone/>
            </a:pPr>
            <a:r>
              <a:rPr lang="en-US" sz="1200" b="1" dirty="0">
                <a:solidFill>
                  <a:srgbClr val="7A9E99"/>
                </a:solidFill>
                <a:latin typeface="Calibri" pitchFamily="34" charset="0"/>
                <a:ea typeface="Calibri" pitchFamily="34" charset="-122"/>
                <a:cs typeface="Calibri" pitchFamily="34" charset="-120"/>
              </a:rPr>
              <a:t>— Marginal</a:t>
            </a:r>
            <a:endParaRPr lang="en-US" sz="1200" dirty="0"/>
          </a:p>
        </p:txBody>
      </p:sp>
      <p:sp>
        <p:nvSpPr>
          <p:cNvPr id="17" name="Text 15"/>
          <p:cNvSpPr/>
          <p:nvPr/>
        </p:nvSpPr>
        <p:spPr>
          <a:xfrm>
            <a:off x="5577840" y="2441448"/>
            <a:ext cx="2926080" cy="96012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Shot danger is spatially smooth. More layers don't help a simple geometry problem.</a:t>
            </a:r>
            <a:endParaRPr lang="en-US" sz="1100" dirty="0"/>
          </a:p>
        </p:txBody>
      </p:sp>
      <p:sp>
        <p:nvSpPr>
          <p:cNvPr id="18" name="Shape 16"/>
          <p:cNvSpPr/>
          <p:nvPr/>
        </p:nvSpPr>
        <p:spPr>
          <a:xfrm>
            <a:off x="502920" y="3648456"/>
            <a:ext cx="8229600" cy="1170432"/>
          </a:xfrm>
          <a:prstGeom prst="rect">
            <a:avLst/>
          </a:prstGeom>
          <a:solidFill>
            <a:srgbClr val="E8F4F2"/>
          </a:solidFill>
          <a:ln w="381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9" name="Shape 17"/>
          <p:cNvSpPr/>
          <p:nvPr/>
        </p:nvSpPr>
        <p:spPr>
          <a:xfrm>
            <a:off x="490856" y="3648456"/>
            <a:ext cx="164592" cy="1170432"/>
          </a:xfrm>
          <a:prstGeom prst="rect">
            <a:avLst/>
          </a:prstGeom>
          <a:solidFill>
            <a:srgbClr val="E8A838"/>
          </a:solidFill>
          <a:ln w="12700">
            <a:solidFill>
              <a:srgbClr val="E8A838"/>
            </a:solidFill>
            <a:prstDash val="solid"/>
          </a:ln>
        </p:spPr>
        <p:txBody>
          <a:bodyPr/>
          <a:lstStyle/>
          <a:p>
            <a:endParaRPr lang="en-US"/>
          </a:p>
        </p:txBody>
      </p:sp>
      <p:sp>
        <p:nvSpPr>
          <p:cNvPr id="20" name="Text 18"/>
          <p:cNvSpPr/>
          <p:nvPr/>
        </p:nvSpPr>
        <p:spPr>
          <a:xfrm>
            <a:off x="755128" y="3739896"/>
            <a:ext cx="1828800" cy="347472"/>
          </a:xfrm>
          <a:prstGeom prst="rect">
            <a:avLst/>
          </a:prstGeom>
          <a:noFill/>
          <a:ln/>
        </p:spPr>
        <p:txBody>
          <a:bodyPr wrap="square" lIns="0" tIns="0" rIns="0" bIns="0" rtlCol="0" anchor="ctr"/>
          <a:lstStyle/>
          <a:p>
            <a:pPr marL="0" indent="0">
              <a:buNone/>
            </a:pPr>
            <a:r>
              <a:rPr lang="en-US" sz="1300" b="1" dirty="0">
                <a:solidFill>
                  <a:srgbClr val="0B1F1A"/>
                </a:solidFill>
                <a:latin typeface="Calibri" pitchFamily="34" charset="0"/>
                <a:ea typeface="Calibri" pitchFamily="34" charset="-122"/>
                <a:cs typeface="Calibri" pitchFamily="34" charset="-120"/>
              </a:rPr>
              <a:t>Dropout</a:t>
            </a:r>
            <a:endParaRPr lang="en-US" sz="1300" dirty="0"/>
          </a:p>
        </p:txBody>
      </p:sp>
      <p:sp>
        <p:nvSpPr>
          <p:cNvPr id="21" name="Text 19"/>
          <p:cNvSpPr/>
          <p:nvPr/>
        </p:nvSpPr>
        <p:spPr>
          <a:xfrm>
            <a:off x="755128" y="4105656"/>
            <a:ext cx="1828800" cy="292608"/>
          </a:xfrm>
          <a:prstGeom prst="rect">
            <a:avLst/>
          </a:prstGeom>
          <a:noFill/>
          <a:ln/>
        </p:spPr>
        <p:txBody>
          <a:bodyPr wrap="square" lIns="0" tIns="0" rIns="0" bIns="0" rtlCol="0" anchor="ctr"/>
          <a:lstStyle/>
          <a:p>
            <a:pPr marL="0" indent="0">
              <a:buNone/>
            </a:pPr>
            <a:r>
              <a:rPr lang="en-US" sz="1100" dirty="0">
                <a:solidFill>
                  <a:srgbClr val="7A9E99"/>
                </a:solidFill>
                <a:latin typeface="Calibri" pitchFamily="34" charset="0"/>
                <a:ea typeface="Calibri" pitchFamily="34" charset="-122"/>
                <a:cs typeface="Calibri" pitchFamily="34" charset="-120"/>
              </a:rPr>
              <a:t>0.4 → 0.3</a:t>
            </a:r>
            <a:endParaRPr lang="en-US" sz="1100" dirty="0"/>
          </a:p>
        </p:txBody>
      </p:sp>
      <p:sp>
        <p:nvSpPr>
          <p:cNvPr id="22" name="Text 20"/>
          <p:cNvSpPr/>
          <p:nvPr/>
        </p:nvSpPr>
        <p:spPr>
          <a:xfrm>
            <a:off x="2560320" y="3785616"/>
            <a:ext cx="2926080" cy="347472"/>
          </a:xfrm>
          <a:prstGeom prst="rect">
            <a:avLst/>
          </a:prstGeom>
          <a:noFill/>
          <a:ln/>
        </p:spPr>
        <p:txBody>
          <a:bodyPr wrap="square" lIns="0" tIns="0" rIns="0" bIns="0" rtlCol="0" anchor="ctr"/>
          <a:lstStyle/>
          <a:p>
            <a:pPr marL="0" indent="0">
              <a:buNone/>
            </a:pPr>
            <a:r>
              <a:rPr lang="en-US" sz="1200" dirty="0">
                <a:solidFill>
                  <a:srgbClr val="444444"/>
                </a:solidFill>
                <a:latin typeface="Calibri" pitchFamily="34" charset="0"/>
                <a:ea typeface="Calibri" pitchFamily="34" charset="-122"/>
                <a:cs typeface="Calibri" pitchFamily="34" charset="-120"/>
              </a:rPr>
              <a:t>ROC-AUC improved, PR-AUC didn't</a:t>
            </a:r>
            <a:endParaRPr lang="en-US" sz="1200" dirty="0"/>
          </a:p>
        </p:txBody>
      </p:sp>
      <p:sp>
        <p:nvSpPr>
          <p:cNvPr id="23" name="Text 21"/>
          <p:cNvSpPr/>
          <p:nvPr/>
        </p:nvSpPr>
        <p:spPr>
          <a:xfrm>
            <a:off x="2560320" y="4151376"/>
            <a:ext cx="2926080" cy="292608"/>
          </a:xfrm>
          <a:prstGeom prst="rect">
            <a:avLst/>
          </a:prstGeom>
          <a:noFill/>
          <a:ln/>
        </p:spPr>
        <p:txBody>
          <a:bodyPr wrap="square" lIns="0" tIns="0" rIns="0" bIns="0" rtlCol="0" anchor="ctr"/>
          <a:lstStyle/>
          <a:p>
            <a:pPr marL="0" indent="0">
              <a:buNone/>
            </a:pPr>
            <a:r>
              <a:rPr lang="en-US" sz="1200" b="1" dirty="0">
                <a:solidFill>
                  <a:srgbClr val="E8A838"/>
                </a:solidFill>
                <a:latin typeface="Calibri" pitchFamily="34" charset="0"/>
                <a:ea typeface="Calibri" pitchFamily="34" charset="-122"/>
                <a:cs typeface="Calibri" pitchFamily="34" charset="-120"/>
              </a:rPr>
              <a:t>— Mixed</a:t>
            </a:r>
            <a:endParaRPr lang="en-US" sz="1200" dirty="0"/>
          </a:p>
        </p:txBody>
      </p:sp>
      <p:sp>
        <p:nvSpPr>
          <p:cNvPr id="24" name="Text 22"/>
          <p:cNvSpPr/>
          <p:nvPr/>
        </p:nvSpPr>
        <p:spPr>
          <a:xfrm>
            <a:off x="5577840" y="3739896"/>
            <a:ext cx="2926080" cy="96012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Less regularization helped ROC-AUC but hurt precision on the positive class.</a:t>
            </a:r>
            <a:endParaRPr lang="en-US" sz="1100" dirty="0"/>
          </a:p>
        </p:txBody>
      </p:sp>
      <p:sp>
        <p:nvSpPr>
          <p:cNvPr id="25" name="Text 23"/>
          <p:cNvSpPr/>
          <p:nvPr/>
        </p:nvSpPr>
        <p:spPr>
          <a:xfrm>
            <a:off x="320040" y="4892040"/>
            <a:ext cx="8503920" cy="201168"/>
          </a:xfrm>
          <a:prstGeom prst="rect">
            <a:avLst/>
          </a:prstGeom>
          <a:noFill/>
          <a:ln/>
        </p:spPr>
        <p:txBody>
          <a:bodyPr wrap="square" lIns="0" tIns="0" rIns="0" bIns="0" rtlCol="0" anchor="ctr"/>
          <a:lstStyle/>
          <a:p>
            <a:pPr marL="0" indent="0">
              <a:buNone/>
            </a:pPr>
            <a:r>
              <a:rPr lang="en-US" sz="1000" i="1" dirty="0">
                <a:solidFill>
                  <a:srgbClr val="7A9E99"/>
                </a:solidFill>
                <a:latin typeface="Calibri" pitchFamily="34" charset="0"/>
                <a:ea typeface="Calibri" pitchFamily="34" charset="-122"/>
                <a:cs typeface="Calibri" pitchFamily="34" charset="-120"/>
              </a:rPr>
              <a:t>Final model: lr=5e-4, dropout=0.4, baseline depth — best PR-AUC, stable training.</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594360"/>
          </a:xfrm>
          <a:prstGeom prst="rect">
            <a:avLst/>
          </a:prstGeom>
          <a:noFill/>
          <a:ln/>
        </p:spPr>
        <p:txBody>
          <a:bodyPr wrap="square" lIns="0" tIns="0" rIns="0" bIns="0" rtlCol="0" anchor="ctr"/>
          <a:lstStyle/>
          <a:p>
            <a:pPr marL="0" indent="0">
              <a:buNone/>
            </a:pPr>
            <a:r>
              <a:rPr lang="en-US" sz="2800" b="1" dirty="0">
                <a:solidFill>
                  <a:srgbClr val="0A1F1A"/>
                </a:solidFill>
                <a:latin typeface="Georgia" pitchFamily="34" charset="0"/>
                <a:ea typeface="Georgia" pitchFamily="34" charset="-122"/>
                <a:cs typeface="Georgia" pitchFamily="34" charset="-120"/>
              </a:rPr>
              <a:t>Model Comparison</a:t>
            </a:r>
            <a:endParaRPr lang="en-US" sz="2800" dirty="0">
              <a:solidFill>
                <a:srgbClr val="0A1F1A"/>
              </a:solidFill>
            </a:endParaRPr>
          </a:p>
        </p:txBody>
      </p:sp>
      <p:sp>
        <p:nvSpPr>
          <p:cNvPr id="3" name="Shape 1"/>
          <p:cNvSpPr/>
          <p:nvPr/>
        </p:nvSpPr>
        <p:spPr>
          <a:xfrm>
            <a:off x="502920" y="886968"/>
            <a:ext cx="8229600" cy="18288"/>
          </a:xfrm>
          <a:prstGeom prst="rect">
            <a:avLst/>
          </a:prstGeom>
          <a:solidFill>
            <a:srgbClr val="1A3A35"/>
          </a:solidFill>
          <a:ln w="12700">
            <a:solidFill>
              <a:srgbClr val="1A3A35"/>
            </a:solidFill>
            <a:prstDash val="solid"/>
          </a:ln>
        </p:spPr>
        <p:txBody>
          <a:bodyPr/>
          <a:lstStyle/>
          <a:p>
            <a:endParaRPr lang="en-US"/>
          </a:p>
        </p:txBody>
      </p:sp>
      <p:sp>
        <p:nvSpPr>
          <p:cNvPr id="4" name="Shape 2"/>
          <p:cNvSpPr/>
          <p:nvPr/>
        </p:nvSpPr>
        <p:spPr>
          <a:xfrm>
            <a:off x="502920" y="1005840"/>
            <a:ext cx="8229600" cy="479708"/>
          </a:xfrm>
          <a:prstGeom prst="rect">
            <a:avLst/>
          </a:prstGeom>
          <a:solidFill>
            <a:srgbClr val="1A7A6A"/>
          </a:solidFill>
          <a:ln w="12700">
            <a:solidFill>
              <a:srgbClr val="1A7A6A"/>
            </a:solidFill>
            <a:prstDash val="solid"/>
          </a:ln>
        </p:spPr>
        <p:txBody>
          <a:bodyPr/>
          <a:lstStyle/>
          <a:p>
            <a:endParaRPr lang="en-US"/>
          </a:p>
        </p:txBody>
      </p:sp>
      <p:sp>
        <p:nvSpPr>
          <p:cNvPr id="5" name="Text 3"/>
          <p:cNvSpPr/>
          <p:nvPr/>
        </p:nvSpPr>
        <p:spPr>
          <a:xfrm>
            <a:off x="622998" y="1097280"/>
            <a:ext cx="1937322" cy="305269"/>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6" name="Text 4"/>
          <p:cNvSpPr/>
          <p:nvPr/>
        </p:nvSpPr>
        <p:spPr>
          <a:xfrm>
            <a:off x="2697480" y="1097280"/>
            <a:ext cx="21488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ROC-AUC</a:t>
            </a:r>
            <a:endParaRPr lang="en-US" sz="1200" dirty="0"/>
          </a:p>
        </p:txBody>
      </p:sp>
      <p:sp>
        <p:nvSpPr>
          <p:cNvPr id="7" name="Text 5"/>
          <p:cNvSpPr/>
          <p:nvPr/>
        </p:nvSpPr>
        <p:spPr>
          <a:xfrm>
            <a:off x="4983480" y="1097280"/>
            <a:ext cx="16916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PR-AUC</a:t>
            </a:r>
            <a:endParaRPr lang="en-US" sz="1200" dirty="0"/>
          </a:p>
        </p:txBody>
      </p:sp>
      <p:sp>
        <p:nvSpPr>
          <p:cNvPr id="8" name="Text 6"/>
          <p:cNvSpPr/>
          <p:nvPr/>
        </p:nvSpPr>
        <p:spPr>
          <a:xfrm>
            <a:off x="6812280" y="1097280"/>
            <a:ext cx="196596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Training Cost</a:t>
            </a:r>
            <a:endParaRPr lang="en-US" sz="1200" dirty="0"/>
          </a:p>
        </p:txBody>
      </p:sp>
      <p:sp>
        <p:nvSpPr>
          <p:cNvPr id="9" name="Shape 7"/>
          <p:cNvSpPr/>
          <p:nvPr/>
        </p:nvSpPr>
        <p:spPr>
          <a:xfrm>
            <a:off x="502920" y="1508760"/>
            <a:ext cx="8229600" cy="566928"/>
          </a:xfrm>
          <a:prstGeom prst="rect">
            <a:avLst/>
          </a:prstGeom>
          <a:solidFill>
            <a:srgbClr val="0D2320"/>
          </a:solidFill>
          <a:ln w="3810">
            <a:solidFill>
              <a:srgbClr val="1A3A35"/>
            </a:solidFill>
            <a:prstDash val="solid"/>
          </a:ln>
        </p:spPr>
        <p:txBody>
          <a:bodyPr/>
          <a:lstStyle/>
          <a:p>
            <a:endParaRPr lang="en-US"/>
          </a:p>
        </p:txBody>
      </p:sp>
      <p:sp>
        <p:nvSpPr>
          <p:cNvPr id="10" name="Text 8"/>
          <p:cNvSpPr/>
          <p:nvPr/>
        </p:nvSpPr>
        <p:spPr>
          <a:xfrm>
            <a:off x="622998" y="1618488"/>
            <a:ext cx="1937322" cy="392489"/>
          </a:xfrm>
          <a:prstGeom prst="rect">
            <a:avLst/>
          </a:prstGeom>
          <a:noFill/>
          <a:ln/>
        </p:spPr>
        <p:txBody>
          <a:bodyPr wrap="square" lIns="0" tIns="0" rIns="0" bIns="0" rtlCol="0" anchor="ctr"/>
          <a:lstStyle/>
          <a:p>
            <a:pPr marL="0" indent="0">
              <a:buNone/>
            </a:pPr>
            <a:r>
              <a:rPr lang="en-US" sz="1200" dirty="0">
                <a:solidFill>
                  <a:srgbClr val="B8DDD8"/>
                </a:solidFill>
                <a:latin typeface="Calibri" pitchFamily="34" charset="0"/>
                <a:ea typeface="Calibri" pitchFamily="34" charset="-122"/>
                <a:cs typeface="Calibri" pitchFamily="34" charset="-120"/>
              </a:rPr>
              <a:t>Logistic Regression</a:t>
            </a:r>
            <a:endParaRPr lang="en-US" sz="1200" dirty="0"/>
          </a:p>
        </p:txBody>
      </p:sp>
      <p:sp>
        <p:nvSpPr>
          <p:cNvPr id="11" name="Text 9"/>
          <p:cNvSpPr/>
          <p:nvPr/>
        </p:nvSpPr>
        <p:spPr>
          <a:xfrm>
            <a:off x="2697480" y="1618488"/>
            <a:ext cx="2148840" cy="411480"/>
          </a:xfrm>
          <a:prstGeom prst="rect">
            <a:avLst/>
          </a:prstGeom>
          <a:noFill/>
          <a:ln/>
        </p:spPr>
        <p:txBody>
          <a:bodyPr wrap="square" lIns="0" tIns="0" rIns="0" bIns="0" rtlCol="0" anchor="ctr"/>
          <a:lstStyle/>
          <a:p>
            <a:pPr marL="0" indent="0">
              <a:buNone/>
            </a:pPr>
            <a:r>
              <a:rPr lang="en-US" sz="1400" dirty="0">
                <a:solidFill>
                  <a:srgbClr val="7A9E99"/>
                </a:solidFill>
                <a:latin typeface="Calibri" pitchFamily="34" charset="0"/>
                <a:ea typeface="Calibri" pitchFamily="34" charset="-122"/>
                <a:cs typeface="Calibri" pitchFamily="34" charset="-120"/>
              </a:rPr>
              <a:t>0.709</a:t>
            </a:r>
            <a:endParaRPr lang="en-US" sz="1400" dirty="0"/>
          </a:p>
        </p:txBody>
      </p:sp>
      <p:sp>
        <p:nvSpPr>
          <p:cNvPr id="12" name="Text 10"/>
          <p:cNvSpPr/>
          <p:nvPr/>
        </p:nvSpPr>
        <p:spPr>
          <a:xfrm>
            <a:off x="4983480" y="1618488"/>
            <a:ext cx="1691640" cy="411480"/>
          </a:xfrm>
          <a:prstGeom prst="rect">
            <a:avLst/>
          </a:prstGeom>
          <a:noFill/>
          <a:ln/>
        </p:spPr>
        <p:txBody>
          <a:bodyPr wrap="square" lIns="0" tIns="0" rIns="0" bIns="0" rtlCol="0" anchor="ctr"/>
          <a:lstStyle/>
          <a:p>
            <a:pPr marL="0" indent="0">
              <a:buNone/>
            </a:pPr>
            <a:r>
              <a:rPr lang="en-US" sz="1400" dirty="0">
                <a:solidFill>
                  <a:srgbClr val="7A9E99"/>
                </a:solidFill>
                <a:latin typeface="Calibri" pitchFamily="34" charset="0"/>
                <a:ea typeface="Calibri" pitchFamily="34" charset="-122"/>
                <a:cs typeface="Calibri" pitchFamily="34" charset="-120"/>
              </a:rPr>
              <a:t>0.143</a:t>
            </a:r>
            <a:endParaRPr lang="en-US" sz="1400" dirty="0"/>
          </a:p>
        </p:txBody>
      </p:sp>
      <p:sp>
        <p:nvSpPr>
          <p:cNvPr id="13" name="Text 11"/>
          <p:cNvSpPr/>
          <p:nvPr/>
        </p:nvSpPr>
        <p:spPr>
          <a:xfrm>
            <a:off x="6812280" y="1618488"/>
            <a:ext cx="1965960" cy="411480"/>
          </a:xfrm>
          <a:prstGeom prst="rect">
            <a:avLst/>
          </a:prstGeom>
          <a:noFill/>
          <a:ln/>
        </p:spPr>
        <p:txBody>
          <a:bodyPr wrap="square" lIns="0" tIns="0" rIns="0" bIns="0" rtlCol="0" anchor="ctr"/>
          <a:lstStyle/>
          <a:p>
            <a:pPr marL="0" indent="0">
              <a:buNone/>
            </a:pPr>
            <a:r>
              <a:rPr lang="en-US" sz="1400" dirty="0">
                <a:solidFill>
                  <a:srgbClr val="7A9E99"/>
                </a:solidFill>
                <a:latin typeface="Calibri" pitchFamily="34" charset="0"/>
                <a:ea typeface="Calibri" pitchFamily="34" charset="-122"/>
                <a:cs typeface="Calibri" pitchFamily="34" charset="-120"/>
              </a:rPr>
              <a:t>Very Low</a:t>
            </a:r>
            <a:endParaRPr lang="en-US" sz="1400" dirty="0"/>
          </a:p>
        </p:txBody>
      </p:sp>
      <p:sp>
        <p:nvSpPr>
          <p:cNvPr id="14" name="Shape 12"/>
          <p:cNvSpPr/>
          <p:nvPr/>
        </p:nvSpPr>
        <p:spPr>
          <a:xfrm>
            <a:off x="502920" y="2103120"/>
            <a:ext cx="8229600" cy="566928"/>
          </a:xfrm>
          <a:prstGeom prst="rect">
            <a:avLst/>
          </a:prstGeom>
          <a:solidFill>
            <a:srgbClr val="0D2320"/>
          </a:solidFill>
          <a:ln w="3810">
            <a:solidFill>
              <a:srgbClr val="1A3A35"/>
            </a:solidFill>
            <a:prstDash val="solid"/>
          </a:ln>
        </p:spPr>
        <p:txBody>
          <a:bodyPr/>
          <a:lstStyle/>
          <a:p>
            <a:endParaRPr lang="en-US"/>
          </a:p>
        </p:txBody>
      </p:sp>
      <p:sp>
        <p:nvSpPr>
          <p:cNvPr id="15" name="Text 13"/>
          <p:cNvSpPr/>
          <p:nvPr/>
        </p:nvSpPr>
        <p:spPr>
          <a:xfrm>
            <a:off x="622998" y="2212848"/>
            <a:ext cx="1937322" cy="392489"/>
          </a:xfrm>
          <a:prstGeom prst="rect">
            <a:avLst/>
          </a:prstGeom>
          <a:noFill/>
          <a:ln/>
        </p:spPr>
        <p:txBody>
          <a:bodyPr wrap="square" lIns="0" tIns="0" rIns="0" bIns="0" rtlCol="0" anchor="ctr"/>
          <a:lstStyle/>
          <a:p>
            <a:pPr marL="0" indent="0">
              <a:buNone/>
            </a:pPr>
            <a:r>
              <a:rPr lang="en-US" sz="1200" dirty="0">
                <a:solidFill>
                  <a:srgbClr val="B8DDD8"/>
                </a:solidFill>
                <a:latin typeface="Calibri" pitchFamily="34" charset="0"/>
                <a:ea typeface="Calibri" pitchFamily="34" charset="-122"/>
                <a:cs typeface="Calibri" pitchFamily="34" charset="-120"/>
              </a:rPr>
              <a:t>MLP (Tabular)</a:t>
            </a:r>
            <a:endParaRPr lang="en-US" sz="1200" dirty="0"/>
          </a:p>
        </p:txBody>
      </p:sp>
      <p:sp>
        <p:nvSpPr>
          <p:cNvPr id="16" name="Text 14"/>
          <p:cNvSpPr/>
          <p:nvPr/>
        </p:nvSpPr>
        <p:spPr>
          <a:xfrm>
            <a:off x="2697480" y="2212848"/>
            <a:ext cx="2148840" cy="411480"/>
          </a:xfrm>
          <a:prstGeom prst="rect">
            <a:avLst/>
          </a:prstGeom>
          <a:noFill/>
          <a:ln/>
        </p:spPr>
        <p:txBody>
          <a:bodyPr wrap="square" lIns="0" tIns="0" rIns="0" bIns="0" rtlCol="0" anchor="ctr"/>
          <a:lstStyle/>
          <a:p>
            <a:pPr marL="0" indent="0">
              <a:buNone/>
            </a:pPr>
            <a:r>
              <a:rPr lang="en-US" sz="1400" dirty="0">
                <a:solidFill>
                  <a:srgbClr val="7A9E99"/>
                </a:solidFill>
                <a:latin typeface="Calibri" pitchFamily="34" charset="0"/>
                <a:ea typeface="Calibri" pitchFamily="34" charset="-122"/>
                <a:cs typeface="Calibri" pitchFamily="34" charset="-120"/>
              </a:rPr>
              <a:t>0.710</a:t>
            </a:r>
            <a:endParaRPr lang="en-US" sz="1400" dirty="0"/>
          </a:p>
        </p:txBody>
      </p:sp>
      <p:sp>
        <p:nvSpPr>
          <p:cNvPr id="17" name="Text 15"/>
          <p:cNvSpPr/>
          <p:nvPr/>
        </p:nvSpPr>
        <p:spPr>
          <a:xfrm>
            <a:off x="4983480" y="2212848"/>
            <a:ext cx="1691640" cy="411480"/>
          </a:xfrm>
          <a:prstGeom prst="rect">
            <a:avLst/>
          </a:prstGeom>
          <a:noFill/>
          <a:ln/>
        </p:spPr>
        <p:txBody>
          <a:bodyPr wrap="square" lIns="0" tIns="0" rIns="0" bIns="0" rtlCol="0" anchor="ctr"/>
          <a:lstStyle/>
          <a:p>
            <a:pPr marL="0" indent="0">
              <a:buNone/>
            </a:pPr>
            <a:r>
              <a:rPr lang="en-US" sz="1400" dirty="0">
                <a:solidFill>
                  <a:srgbClr val="7A9E99"/>
                </a:solidFill>
                <a:latin typeface="Calibri" pitchFamily="34" charset="0"/>
                <a:ea typeface="Calibri" pitchFamily="34" charset="-122"/>
                <a:cs typeface="Calibri" pitchFamily="34" charset="-120"/>
              </a:rPr>
              <a:t>0.152</a:t>
            </a:r>
            <a:endParaRPr lang="en-US" sz="1400" dirty="0"/>
          </a:p>
        </p:txBody>
      </p:sp>
      <p:sp>
        <p:nvSpPr>
          <p:cNvPr id="18" name="Text 16"/>
          <p:cNvSpPr/>
          <p:nvPr/>
        </p:nvSpPr>
        <p:spPr>
          <a:xfrm>
            <a:off x="6812280" y="2212848"/>
            <a:ext cx="1965960" cy="411480"/>
          </a:xfrm>
          <a:prstGeom prst="rect">
            <a:avLst/>
          </a:prstGeom>
          <a:noFill/>
          <a:ln/>
        </p:spPr>
        <p:txBody>
          <a:bodyPr wrap="square" lIns="0" tIns="0" rIns="0" bIns="0" rtlCol="0" anchor="ctr"/>
          <a:lstStyle/>
          <a:p>
            <a:pPr marL="0" indent="0">
              <a:buNone/>
            </a:pPr>
            <a:r>
              <a:rPr lang="en-US" sz="1400" dirty="0">
                <a:solidFill>
                  <a:srgbClr val="7A9E99"/>
                </a:solidFill>
                <a:latin typeface="Calibri" pitchFamily="34" charset="0"/>
                <a:ea typeface="Calibri" pitchFamily="34" charset="-122"/>
                <a:cs typeface="Calibri" pitchFamily="34" charset="-120"/>
              </a:rPr>
              <a:t>Low</a:t>
            </a:r>
            <a:endParaRPr lang="en-US" sz="1400" dirty="0"/>
          </a:p>
        </p:txBody>
      </p:sp>
      <p:sp>
        <p:nvSpPr>
          <p:cNvPr id="19" name="Shape 17"/>
          <p:cNvSpPr/>
          <p:nvPr/>
        </p:nvSpPr>
        <p:spPr>
          <a:xfrm>
            <a:off x="502920" y="2697480"/>
            <a:ext cx="8229600" cy="566928"/>
          </a:xfrm>
          <a:prstGeom prst="rect">
            <a:avLst/>
          </a:prstGeom>
          <a:solidFill>
            <a:srgbClr val="0F2A25"/>
          </a:solidFill>
          <a:ln w="3810">
            <a:solidFill>
              <a:srgbClr val="1A3A35"/>
            </a:solidFill>
            <a:prstDash val="solid"/>
          </a:ln>
        </p:spPr>
        <p:txBody>
          <a:bodyPr/>
          <a:lstStyle/>
          <a:p>
            <a:endParaRPr lang="en-US"/>
          </a:p>
        </p:txBody>
      </p:sp>
      <p:sp>
        <p:nvSpPr>
          <p:cNvPr id="21" name="Text 19"/>
          <p:cNvSpPr/>
          <p:nvPr/>
        </p:nvSpPr>
        <p:spPr>
          <a:xfrm>
            <a:off x="622998" y="2807208"/>
            <a:ext cx="1937322" cy="392489"/>
          </a:xfrm>
          <a:prstGeom prst="rect">
            <a:avLst/>
          </a:prstGeom>
          <a:noFill/>
          <a:ln/>
        </p:spPr>
        <p:txBody>
          <a:bodyPr wrap="square" lIns="0" tIns="0" rIns="0" bIns="0" rtlCol="0" anchor="ctr"/>
          <a:lstStyle/>
          <a:p>
            <a:pPr marL="0" indent="0">
              <a:buNone/>
            </a:pPr>
            <a:r>
              <a:rPr lang="en-US" sz="1200" dirty="0">
                <a:solidFill>
                  <a:srgbClr val="B8DDD8"/>
                </a:solidFill>
                <a:latin typeface="Calibri" pitchFamily="34" charset="0"/>
                <a:ea typeface="Calibri" pitchFamily="34" charset="-122"/>
                <a:cs typeface="Calibri" pitchFamily="34" charset="-120"/>
              </a:rPr>
              <a:t>CNN (3-channel)</a:t>
            </a:r>
            <a:endParaRPr lang="en-US" sz="1200" dirty="0"/>
          </a:p>
        </p:txBody>
      </p:sp>
      <p:sp>
        <p:nvSpPr>
          <p:cNvPr id="22" name="Text 20"/>
          <p:cNvSpPr/>
          <p:nvPr/>
        </p:nvSpPr>
        <p:spPr>
          <a:xfrm>
            <a:off x="2697480" y="2807208"/>
            <a:ext cx="2148840" cy="411480"/>
          </a:xfrm>
          <a:prstGeom prst="rect">
            <a:avLst/>
          </a:prstGeom>
          <a:noFill/>
          <a:ln/>
        </p:spPr>
        <p:txBody>
          <a:bodyPr wrap="square" lIns="0" tIns="0" rIns="0" bIns="0" rtlCol="0" anchor="ctr"/>
          <a:lstStyle/>
          <a:p>
            <a:pPr marL="0" indent="0">
              <a:buNone/>
            </a:pPr>
            <a:r>
              <a:rPr lang="en-US" sz="1400" b="1" dirty="0">
                <a:solidFill>
                  <a:srgbClr val="1A7A6A"/>
                </a:solidFill>
                <a:latin typeface="Calibri" pitchFamily="34" charset="0"/>
                <a:ea typeface="Calibri" pitchFamily="34" charset="-122"/>
                <a:cs typeface="Calibri" pitchFamily="34" charset="-120"/>
              </a:rPr>
              <a:t>0.718</a:t>
            </a:r>
            <a:endParaRPr lang="en-US" sz="1400" dirty="0"/>
          </a:p>
        </p:txBody>
      </p:sp>
      <p:sp>
        <p:nvSpPr>
          <p:cNvPr id="23" name="Text 21"/>
          <p:cNvSpPr/>
          <p:nvPr/>
        </p:nvSpPr>
        <p:spPr>
          <a:xfrm>
            <a:off x="4983480" y="2807208"/>
            <a:ext cx="1691640" cy="411480"/>
          </a:xfrm>
          <a:prstGeom prst="rect">
            <a:avLst/>
          </a:prstGeom>
          <a:noFill/>
          <a:ln/>
        </p:spPr>
        <p:txBody>
          <a:bodyPr wrap="square" lIns="0" tIns="0" rIns="0" bIns="0" rtlCol="0" anchor="ctr"/>
          <a:lstStyle/>
          <a:p>
            <a:pPr marL="0" indent="0">
              <a:buNone/>
            </a:pPr>
            <a:r>
              <a:rPr lang="en-US" sz="1400" b="1" dirty="0">
                <a:solidFill>
                  <a:srgbClr val="1A7A6A"/>
                </a:solidFill>
                <a:latin typeface="Calibri" pitchFamily="34" charset="0"/>
                <a:ea typeface="Calibri" pitchFamily="34" charset="-122"/>
                <a:cs typeface="Calibri" pitchFamily="34" charset="-120"/>
              </a:rPr>
              <a:t>0.152</a:t>
            </a:r>
            <a:endParaRPr lang="en-US" sz="1400" dirty="0"/>
          </a:p>
        </p:txBody>
      </p:sp>
      <p:sp>
        <p:nvSpPr>
          <p:cNvPr id="24" name="Text 22"/>
          <p:cNvSpPr/>
          <p:nvPr/>
        </p:nvSpPr>
        <p:spPr>
          <a:xfrm>
            <a:off x="6812280" y="2807208"/>
            <a:ext cx="1965960" cy="411480"/>
          </a:xfrm>
          <a:prstGeom prst="rect">
            <a:avLst/>
          </a:prstGeom>
          <a:noFill/>
          <a:ln/>
        </p:spPr>
        <p:txBody>
          <a:bodyPr wrap="square" lIns="0" tIns="0" rIns="0" bIns="0" rtlCol="0" anchor="ctr"/>
          <a:lstStyle/>
          <a:p>
            <a:pPr marL="0" indent="0">
              <a:buNone/>
            </a:pPr>
            <a:r>
              <a:rPr lang="en-US" sz="1400" b="1" dirty="0">
                <a:solidFill>
                  <a:srgbClr val="1A7A6A"/>
                </a:solidFill>
                <a:latin typeface="Calibri" pitchFamily="34" charset="0"/>
                <a:ea typeface="Calibri" pitchFamily="34" charset="-122"/>
                <a:cs typeface="Calibri" pitchFamily="34" charset="-120"/>
              </a:rPr>
              <a:t>Moderate</a:t>
            </a:r>
            <a:endParaRPr lang="en-US" sz="1400" dirty="0"/>
          </a:p>
        </p:txBody>
      </p:sp>
      <p:sp>
        <p:nvSpPr>
          <p:cNvPr id="25" name="Shape 23"/>
          <p:cNvSpPr/>
          <p:nvPr/>
        </p:nvSpPr>
        <p:spPr>
          <a:xfrm>
            <a:off x="502920" y="3566160"/>
            <a:ext cx="4069080" cy="1371600"/>
          </a:xfrm>
          <a:prstGeom prst="rect">
            <a:avLst/>
          </a:prstGeom>
          <a:solidFill>
            <a:srgbClr val="0F2A25"/>
          </a:solidFill>
          <a:ln w="6350">
            <a:solidFill>
              <a:srgbClr val="1A3A35"/>
            </a:solidFill>
            <a:prstDash val="solid"/>
          </a:ln>
          <a:effectLst>
            <a:outerShdw blurRad="127000" dist="50800" dir="8100000" algn="bl" rotWithShape="0">
              <a:srgbClr val="000000">
                <a:alpha val="12000"/>
              </a:srgbClr>
            </a:outerShdw>
          </a:effectLst>
        </p:spPr>
        <p:txBody>
          <a:bodyPr/>
          <a:lstStyle/>
          <a:p>
            <a:endParaRPr lang="en-US"/>
          </a:p>
        </p:txBody>
      </p:sp>
      <p:sp>
        <p:nvSpPr>
          <p:cNvPr id="26" name="Shape 24"/>
          <p:cNvSpPr/>
          <p:nvPr/>
        </p:nvSpPr>
        <p:spPr>
          <a:xfrm>
            <a:off x="502920" y="3566160"/>
            <a:ext cx="109728" cy="1371600"/>
          </a:xfrm>
          <a:prstGeom prst="rect">
            <a:avLst/>
          </a:prstGeom>
          <a:solidFill>
            <a:srgbClr val="1A7A6A"/>
          </a:solidFill>
          <a:ln w="12700">
            <a:solidFill>
              <a:srgbClr val="1A7A6A"/>
            </a:solidFill>
            <a:prstDash val="solid"/>
          </a:ln>
        </p:spPr>
        <p:txBody>
          <a:bodyPr/>
          <a:lstStyle/>
          <a:p>
            <a:endParaRPr lang="en-US"/>
          </a:p>
        </p:txBody>
      </p:sp>
      <p:sp>
        <p:nvSpPr>
          <p:cNvPr id="27" name="Text 25"/>
          <p:cNvSpPr/>
          <p:nvPr/>
        </p:nvSpPr>
        <p:spPr>
          <a:xfrm>
            <a:off x="704088" y="3639312"/>
            <a:ext cx="3749040" cy="320040"/>
          </a:xfrm>
          <a:prstGeom prst="rect">
            <a:avLst/>
          </a:prstGeom>
          <a:noFill/>
          <a:ln/>
        </p:spPr>
        <p:txBody>
          <a:bodyPr wrap="square" lIns="0" tIns="0" rIns="0" bIns="0" rtlCol="0" anchor="ctr"/>
          <a:lstStyle/>
          <a:p>
            <a:pPr marL="0" indent="0">
              <a:buNone/>
            </a:pPr>
            <a:r>
              <a:rPr lang="en-US" sz="1100" b="1" dirty="0">
                <a:solidFill>
                  <a:srgbClr val="1A7A6A"/>
                </a:solidFill>
                <a:latin typeface="Calibri" pitchFamily="34" charset="0"/>
                <a:ea typeface="Calibri" pitchFamily="34" charset="-122"/>
                <a:cs typeface="Calibri" pitchFamily="34" charset="-120"/>
              </a:rPr>
              <a:t>Key finding</a:t>
            </a:r>
            <a:endParaRPr lang="en-US" sz="1100" dirty="0"/>
          </a:p>
        </p:txBody>
      </p:sp>
      <p:sp>
        <p:nvSpPr>
          <p:cNvPr id="28" name="Text 26"/>
          <p:cNvSpPr/>
          <p:nvPr/>
        </p:nvSpPr>
        <p:spPr>
          <a:xfrm>
            <a:off x="704088" y="3977640"/>
            <a:ext cx="3749040" cy="822960"/>
          </a:xfrm>
          <a:prstGeom prst="rect">
            <a:avLst/>
          </a:prstGeom>
          <a:noFill/>
          <a:ln/>
        </p:spPr>
        <p:txBody>
          <a:bodyPr wrap="square" lIns="0" tIns="0" rIns="0" bIns="0" rtlCol="0" anchor="t"/>
          <a:lstStyle/>
          <a:p>
            <a:pPr marL="0" indent="0">
              <a:buNone/>
            </a:pPr>
            <a:r>
              <a:rPr lang="en-US" sz="1200" dirty="0">
                <a:solidFill>
                  <a:srgbClr val="7A9E99"/>
                </a:solidFill>
                <a:latin typeface="Calibri" pitchFamily="34" charset="0"/>
                <a:ea typeface="Calibri" pitchFamily="34" charset="-122"/>
                <a:cs typeface="Calibri" pitchFamily="34" charset="-120"/>
              </a:rPr>
              <a:t>PR-AUC is the right metric. With 7% goal rate, precision on the positive class matters more than overall ranking.</a:t>
            </a:r>
            <a:endParaRPr lang="en-US" sz="1200" dirty="0"/>
          </a:p>
        </p:txBody>
      </p:sp>
      <p:sp>
        <p:nvSpPr>
          <p:cNvPr id="29" name="Shape 27"/>
          <p:cNvSpPr/>
          <p:nvPr/>
        </p:nvSpPr>
        <p:spPr>
          <a:xfrm>
            <a:off x="4663440" y="3566160"/>
            <a:ext cx="4069080" cy="1371600"/>
          </a:xfrm>
          <a:prstGeom prst="rect">
            <a:avLst/>
          </a:prstGeom>
          <a:solidFill>
            <a:srgbClr val="0F2A25"/>
          </a:solidFill>
          <a:ln w="6350">
            <a:solidFill>
              <a:srgbClr val="1A3A35"/>
            </a:solidFill>
            <a:prstDash val="solid"/>
          </a:ln>
          <a:effectLst>
            <a:outerShdw blurRad="127000" dist="50800" dir="8100000" algn="bl" rotWithShape="0">
              <a:srgbClr val="000000">
                <a:alpha val="12000"/>
              </a:srgbClr>
            </a:outerShdw>
          </a:effectLst>
        </p:spPr>
        <p:txBody>
          <a:bodyPr/>
          <a:lstStyle/>
          <a:p>
            <a:endParaRPr lang="en-US"/>
          </a:p>
        </p:txBody>
      </p:sp>
      <p:sp>
        <p:nvSpPr>
          <p:cNvPr id="30" name="Shape 28"/>
          <p:cNvSpPr/>
          <p:nvPr/>
        </p:nvSpPr>
        <p:spPr>
          <a:xfrm>
            <a:off x="4663440" y="3566160"/>
            <a:ext cx="109728" cy="1371600"/>
          </a:xfrm>
          <a:prstGeom prst="rect">
            <a:avLst/>
          </a:prstGeom>
          <a:solidFill>
            <a:srgbClr val="C0392B"/>
          </a:solidFill>
          <a:ln w="12700">
            <a:solidFill>
              <a:srgbClr val="C0392B"/>
            </a:solidFill>
            <a:prstDash val="solid"/>
          </a:ln>
        </p:spPr>
        <p:txBody>
          <a:bodyPr/>
          <a:lstStyle/>
          <a:p>
            <a:endParaRPr lang="en-US"/>
          </a:p>
        </p:txBody>
      </p:sp>
      <p:sp>
        <p:nvSpPr>
          <p:cNvPr id="31" name="Text 29"/>
          <p:cNvSpPr/>
          <p:nvPr/>
        </p:nvSpPr>
        <p:spPr>
          <a:xfrm>
            <a:off x="4864608" y="3639312"/>
            <a:ext cx="374904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Spatial CNN</a:t>
            </a:r>
            <a:endParaRPr lang="en-US" sz="1100" dirty="0"/>
          </a:p>
        </p:txBody>
      </p:sp>
      <p:sp>
        <p:nvSpPr>
          <p:cNvPr id="32" name="Text 30"/>
          <p:cNvSpPr/>
          <p:nvPr/>
        </p:nvSpPr>
        <p:spPr>
          <a:xfrm>
            <a:off x="4864608" y="3977640"/>
            <a:ext cx="3749040" cy="822960"/>
          </a:xfrm>
          <a:prstGeom prst="rect">
            <a:avLst/>
          </a:prstGeom>
          <a:noFill/>
          <a:ln/>
        </p:spPr>
        <p:txBody>
          <a:bodyPr wrap="square" lIns="0" tIns="0" rIns="0" bIns="0" rtlCol="0" anchor="t"/>
          <a:lstStyle/>
          <a:p>
            <a:pPr marL="0" indent="0">
              <a:buNone/>
            </a:pPr>
            <a:r>
              <a:rPr lang="en-US" sz="1200" dirty="0">
                <a:solidFill>
                  <a:srgbClr val="7A9E99"/>
                </a:solidFill>
                <a:latin typeface="Calibri" pitchFamily="34" charset="0"/>
                <a:ea typeface="Calibri" pitchFamily="34" charset="-122"/>
                <a:cs typeface="Calibri" pitchFamily="34" charset="-120"/>
              </a:rPr>
              <a:t>Best PR-AUC, but only once representation was fixed. The 1-channel version was the worst model.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530352"/>
          </a:xfrm>
          <a:prstGeom prst="rect">
            <a:avLst/>
          </a:prstGeom>
          <a:noFill/>
          <a:ln/>
        </p:spPr>
        <p:txBody>
          <a:bodyPr wrap="square" lIns="0" tIns="0" rIns="0" bIns="0" rtlCol="0" anchor="ctr"/>
          <a:lstStyle/>
          <a:p>
            <a:pPr marL="0" indent="0">
              <a:buNone/>
            </a:pPr>
            <a:r>
              <a:rPr lang="en-US" sz="2600" b="1" dirty="0">
                <a:solidFill>
                  <a:srgbClr val="0B1F1A"/>
                </a:solidFill>
                <a:latin typeface="Georgia" pitchFamily="34" charset="0"/>
                <a:ea typeface="Georgia" pitchFamily="34" charset="-122"/>
                <a:cs typeface="Georgia" pitchFamily="34" charset="-120"/>
              </a:rPr>
              <a:t>Model Comparison: Results</a:t>
            </a:r>
            <a:endParaRPr lang="en-US" sz="2600" dirty="0"/>
          </a:p>
        </p:txBody>
      </p:sp>
      <p:sp>
        <p:nvSpPr>
          <p:cNvPr id="3" name="Shape 1"/>
          <p:cNvSpPr/>
          <p:nvPr/>
        </p:nvSpPr>
        <p:spPr>
          <a:xfrm>
            <a:off x="502920" y="777240"/>
            <a:ext cx="8229600" cy="18288"/>
          </a:xfrm>
          <a:prstGeom prst="rect">
            <a:avLst/>
          </a:prstGeom>
          <a:solidFill>
            <a:srgbClr val="DDEAE8"/>
          </a:solidFill>
          <a:ln w="12700">
            <a:solidFill>
              <a:srgbClr val="DDEAE8"/>
            </a:solidFill>
            <a:prstDash val="solid"/>
          </a:ln>
        </p:spPr>
        <p:txBody>
          <a:bodyPr/>
          <a:lstStyle/>
          <a:p>
            <a:endParaRPr lang="en-US"/>
          </a:p>
        </p:txBody>
      </p:sp>
      <p:sp>
        <p:nvSpPr>
          <p:cNvPr id="4" name="Text 2"/>
          <p:cNvSpPr/>
          <p:nvPr/>
        </p:nvSpPr>
        <p:spPr>
          <a:xfrm>
            <a:off x="320040" y="868680"/>
            <a:ext cx="4206240" cy="274320"/>
          </a:xfrm>
          <a:prstGeom prst="rect">
            <a:avLst/>
          </a:prstGeom>
          <a:noFill/>
          <a:ln/>
        </p:spPr>
        <p:txBody>
          <a:bodyPr wrap="square" lIns="0" tIns="0" rIns="0" bIns="0" rtlCol="0" anchor="ctr"/>
          <a:lstStyle/>
          <a:p>
            <a:pPr marL="0" indent="0">
              <a:buNone/>
            </a:pPr>
            <a:r>
              <a:rPr lang="en-US" sz="1000" b="1" dirty="0">
                <a:solidFill>
                  <a:srgbClr val="7A9E99"/>
                </a:solidFill>
                <a:latin typeface="Calibri" pitchFamily="34" charset="0"/>
                <a:ea typeface="Calibri" pitchFamily="34" charset="-122"/>
                <a:cs typeface="Calibri" pitchFamily="34" charset="-120"/>
              </a:rPr>
              <a:t>ROC Curve</a:t>
            </a:r>
            <a:endParaRPr lang="en-US" sz="1000" dirty="0"/>
          </a:p>
        </p:txBody>
      </p:sp>
      <p:pic>
        <p:nvPicPr>
          <p:cNvPr id="5" name="Image 0" descr="preencoded.png"/>
          <p:cNvPicPr>
            <a:picLocks noChangeAspect="1"/>
          </p:cNvPicPr>
          <p:nvPr/>
        </p:nvPicPr>
        <p:blipFill>
          <a:blip r:embed="rId3"/>
          <a:srcRect/>
          <a:stretch/>
        </p:blipFill>
        <p:spPr>
          <a:xfrm>
            <a:off x="320040" y="1143000"/>
            <a:ext cx="4206240" cy="3529584"/>
          </a:xfrm>
          <a:prstGeom prst="rect">
            <a:avLst/>
          </a:prstGeom>
        </p:spPr>
      </p:pic>
      <p:sp>
        <p:nvSpPr>
          <p:cNvPr id="6" name="Text 3"/>
          <p:cNvSpPr/>
          <p:nvPr/>
        </p:nvSpPr>
        <p:spPr>
          <a:xfrm>
            <a:off x="4663440" y="868680"/>
            <a:ext cx="4206240" cy="274320"/>
          </a:xfrm>
          <a:prstGeom prst="rect">
            <a:avLst/>
          </a:prstGeom>
          <a:noFill/>
          <a:ln/>
        </p:spPr>
        <p:txBody>
          <a:bodyPr wrap="square" lIns="0" tIns="0" rIns="0" bIns="0" rtlCol="0" anchor="ctr"/>
          <a:lstStyle/>
          <a:p>
            <a:pPr marL="0" indent="0">
              <a:buNone/>
            </a:pPr>
            <a:r>
              <a:rPr lang="en-US" sz="1000" b="1" dirty="0">
                <a:solidFill>
                  <a:srgbClr val="1A7A6A"/>
                </a:solidFill>
                <a:latin typeface="Calibri" pitchFamily="34" charset="0"/>
                <a:ea typeface="Calibri" pitchFamily="34" charset="-122"/>
                <a:cs typeface="Calibri" pitchFamily="34" charset="-120"/>
              </a:rPr>
              <a:t>Precision-Recall Curve  (more informative under 7% imbalance)</a:t>
            </a:r>
            <a:endParaRPr lang="en-US" sz="1000" dirty="0"/>
          </a:p>
        </p:txBody>
      </p:sp>
      <p:pic>
        <p:nvPicPr>
          <p:cNvPr id="7" name="Image 1" descr="preencoded.png"/>
          <p:cNvPicPr>
            <a:picLocks noChangeAspect="1"/>
          </p:cNvPicPr>
          <p:nvPr/>
        </p:nvPicPr>
        <p:blipFill>
          <a:blip r:embed="rId4"/>
          <a:srcRect/>
          <a:stretch/>
        </p:blipFill>
        <p:spPr>
          <a:xfrm>
            <a:off x="4663440" y="1143000"/>
            <a:ext cx="4206240" cy="3529584"/>
          </a:xfrm>
          <a:prstGeom prst="rect">
            <a:avLst/>
          </a:prstGeom>
        </p:spPr>
      </p:pic>
      <p:sp>
        <p:nvSpPr>
          <p:cNvPr id="8" name="Text 4"/>
          <p:cNvSpPr/>
          <p:nvPr/>
        </p:nvSpPr>
        <p:spPr>
          <a:xfrm>
            <a:off x="320040" y="4754880"/>
            <a:ext cx="8503920" cy="320040"/>
          </a:xfrm>
          <a:prstGeom prst="rect">
            <a:avLst/>
          </a:prstGeom>
          <a:noFill/>
          <a:ln/>
        </p:spPr>
        <p:txBody>
          <a:bodyPr wrap="square" lIns="0" tIns="0" rIns="0" bIns="0"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ROC curves are nearly overlapping. All three models rank shots similarly. The PR curve is where the CNN earns its edge: higher precision at low recall means fewer false alarms on high-confidence goal predictions.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2F5F4"/>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530352"/>
          </a:xfrm>
          <a:prstGeom prst="rect">
            <a:avLst/>
          </a:prstGeom>
          <a:noFill/>
          <a:ln/>
        </p:spPr>
        <p:txBody>
          <a:bodyPr wrap="square" lIns="0" tIns="0" rIns="0" bIns="0" rtlCol="0" anchor="ctr"/>
          <a:lstStyle/>
          <a:p>
            <a:pPr marL="0" indent="0">
              <a:buNone/>
            </a:pPr>
            <a:r>
              <a:rPr lang="en-US" sz="2600" b="1" dirty="0">
                <a:solidFill>
                  <a:srgbClr val="0A1F1A"/>
                </a:solidFill>
                <a:latin typeface="Georgia" pitchFamily="34" charset="0"/>
                <a:ea typeface="Georgia" pitchFamily="34" charset="-122"/>
                <a:cs typeface="Georgia" pitchFamily="34" charset="-120"/>
              </a:rPr>
              <a:t>Final Results</a:t>
            </a:r>
            <a:endParaRPr lang="en-US" sz="2600" dirty="0">
              <a:solidFill>
                <a:srgbClr val="0A1F1A"/>
              </a:solidFill>
            </a:endParaRPr>
          </a:p>
        </p:txBody>
      </p:sp>
      <p:sp>
        <p:nvSpPr>
          <p:cNvPr id="3" name="Shape 1"/>
          <p:cNvSpPr/>
          <p:nvPr/>
        </p:nvSpPr>
        <p:spPr>
          <a:xfrm>
            <a:off x="502920" y="777240"/>
            <a:ext cx="8229600" cy="18288"/>
          </a:xfrm>
          <a:prstGeom prst="rect">
            <a:avLst/>
          </a:prstGeom>
          <a:solidFill>
            <a:srgbClr val="1A3A35"/>
          </a:solidFill>
          <a:ln w="12700">
            <a:solidFill>
              <a:srgbClr val="1A3A35"/>
            </a:solidFill>
            <a:prstDash val="solid"/>
          </a:ln>
        </p:spPr>
        <p:txBody>
          <a:bodyPr/>
          <a:lstStyle/>
          <a:p>
            <a:endParaRPr lang="en-US"/>
          </a:p>
        </p:txBody>
      </p:sp>
      <p:sp>
        <p:nvSpPr>
          <p:cNvPr id="4" name="Text 2"/>
          <p:cNvSpPr/>
          <p:nvPr/>
        </p:nvSpPr>
        <p:spPr>
          <a:xfrm>
            <a:off x="320040" y="868680"/>
            <a:ext cx="4114800" cy="274320"/>
          </a:xfrm>
          <a:prstGeom prst="rect">
            <a:avLst/>
          </a:prstGeom>
          <a:noFill/>
          <a:ln/>
        </p:spPr>
        <p:txBody>
          <a:bodyPr wrap="square" lIns="0" tIns="0" rIns="0" bIns="0" rtlCol="0" anchor="ctr"/>
          <a:lstStyle/>
          <a:p>
            <a:pPr marL="0" indent="0">
              <a:buNone/>
            </a:pPr>
            <a:r>
              <a:rPr lang="en-US" sz="1000" b="1" dirty="0">
                <a:solidFill>
                  <a:srgbClr val="7A9E99"/>
                </a:solidFill>
                <a:latin typeface="Calibri" pitchFamily="34" charset="0"/>
                <a:ea typeface="Calibri" pitchFamily="34" charset="-122"/>
                <a:cs typeface="Calibri" pitchFamily="34" charset="-120"/>
              </a:rPr>
              <a:t>Final model scores</a:t>
            </a:r>
            <a:endParaRPr lang="en-US" sz="1000" dirty="0"/>
          </a:p>
        </p:txBody>
      </p:sp>
      <p:pic>
        <p:nvPicPr>
          <p:cNvPr id="5" name="Image 0" descr="preencoded.png"/>
          <p:cNvPicPr>
            <a:picLocks noChangeAspect="1"/>
          </p:cNvPicPr>
          <p:nvPr/>
        </p:nvPicPr>
        <p:blipFill>
          <a:blip r:embed="rId3"/>
          <a:srcRect/>
          <a:stretch/>
        </p:blipFill>
        <p:spPr>
          <a:xfrm>
            <a:off x="320040" y="1143000"/>
            <a:ext cx="4114800" cy="1499616"/>
          </a:xfrm>
          <a:prstGeom prst="rect">
            <a:avLst/>
          </a:prstGeom>
        </p:spPr>
      </p:pic>
      <p:sp>
        <p:nvSpPr>
          <p:cNvPr id="6" name="Shape 3"/>
          <p:cNvSpPr/>
          <p:nvPr/>
        </p:nvSpPr>
        <p:spPr>
          <a:xfrm>
            <a:off x="320040" y="2834640"/>
            <a:ext cx="1280160" cy="822960"/>
          </a:xfrm>
          <a:prstGeom prst="rect">
            <a:avLst/>
          </a:prstGeom>
          <a:solidFill>
            <a:srgbClr val="0F2A25"/>
          </a:solidFill>
          <a:ln w="3810">
            <a:solidFill>
              <a:srgbClr val="1A3A35"/>
            </a:solidFill>
            <a:prstDash val="solid"/>
          </a:ln>
        </p:spPr>
        <p:txBody>
          <a:bodyPr/>
          <a:lstStyle/>
          <a:p>
            <a:endParaRPr lang="en-US"/>
          </a:p>
        </p:txBody>
      </p:sp>
      <p:sp>
        <p:nvSpPr>
          <p:cNvPr id="7" name="Text 4"/>
          <p:cNvSpPr/>
          <p:nvPr/>
        </p:nvSpPr>
        <p:spPr>
          <a:xfrm>
            <a:off x="320040" y="2862072"/>
            <a:ext cx="1280160" cy="411480"/>
          </a:xfrm>
          <a:prstGeom prst="rect">
            <a:avLst/>
          </a:prstGeom>
          <a:noFill/>
          <a:ln/>
        </p:spPr>
        <p:txBody>
          <a:bodyPr wrap="square" lIns="0" tIns="0" rIns="0" bIns="0" rtlCol="0" anchor="ctr"/>
          <a:lstStyle/>
          <a:p>
            <a:pPr marL="0" indent="0" algn="ctr">
              <a:buNone/>
            </a:pPr>
            <a:r>
              <a:rPr lang="en-US" sz="1800" b="1" dirty="0">
                <a:solidFill>
                  <a:srgbClr val="1A7A6A"/>
                </a:solidFill>
                <a:latin typeface="Georgia" pitchFamily="34" charset="0"/>
                <a:ea typeface="Georgia" pitchFamily="34" charset="-122"/>
                <a:cs typeface="Georgia" pitchFamily="34" charset="-120"/>
              </a:rPr>
              <a:t>+1.3%</a:t>
            </a:r>
            <a:endParaRPr lang="en-US" sz="1800" dirty="0"/>
          </a:p>
        </p:txBody>
      </p:sp>
      <p:sp>
        <p:nvSpPr>
          <p:cNvPr id="8" name="Text 5"/>
          <p:cNvSpPr/>
          <p:nvPr/>
        </p:nvSpPr>
        <p:spPr>
          <a:xfrm>
            <a:off x="320040" y="3264408"/>
            <a:ext cx="1280160" cy="347472"/>
          </a:xfrm>
          <a:prstGeom prst="rect">
            <a:avLst/>
          </a:prstGeom>
          <a:noFill/>
          <a:ln/>
        </p:spPr>
        <p:txBody>
          <a:bodyPr wrap="square" lIns="0" tIns="0" rIns="0" bIns="0" rtlCol="0" anchor="ctr"/>
          <a:lstStyle/>
          <a:p>
            <a:pPr marL="0" indent="0" algn="ctr">
              <a:buNone/>
            </a:pPr>
            <a:r>
              <a:rPr lang="en-US" sz="900" dirty="0">
                <a:solidFill>
                  <a:srgbClr val="7A9E99"/>
                </a:solidFill>
                <a:latin typeface="Calibri" pitchFamily="34" charset="0"/>
                <a:ea typeface="Calibri" pitchFamily="34" charset="-122"/>
                <a:cs typeface="Calibri" pitchFamily="34" charset="-120"/>
              </a:rPr>
              <a:t>ROC-AUC gain</a:t>
            </a:r>
            <a:endParaRPr lang="en-US" sz="900" dirty="0"/>
          </a:p>
          <a:p>
            <a:pPr marL="0" indent="0" algn="ctr">
              <a:buNone/>
            </a:pPr>
            <a:r>
              <a:rPr lang="en-US" sz="900" dirty="0">
                <a:solidFill>
                  <a:srgbClr val="7A9E99"/>
                </a:solidFill>
                <a:latin typeface="Calibri" pitchFamily="34" charset="0"/>
                <a:ea typeface="Calibri" pitchFamily="34" charset="-122"/>
                <a:cs typeface="Calibri" pitchFamily="34" charset="-120"/>
              </a:rPr>
              <a:t>LR → CNN</a:t>
            </a:r>
            <a:endParaRPr lang="en-US" sz="900" dirty="0"/>
          </a:p>
        </p:txBody>
      </p:sp>
      <p:sp>
        <p:nvSpPr>
          <p:cNvPr id="9" name="Shape 6"/>
          <p:cNvSpPr/>
          <p:nvPr/>
        </p:nvSpPr>
        <p:spPr>
          <a:xfrm>
            <a:off x="1737360" y="2834640"/>
            <a:ext cx="1280160" cy="822960"/>
          </a:xfrm>
          <a:prstGeom prst="rect">
            <a:avLst/>
          </a:prstGeom>
          <a:solidFill>
            <a:srgbClr val="0F2A25"/>
          </a:solidFill>
          <a:ln w="3810">
            <a:solidFill>
              <a:srgbClr val="1A3A35"/>
            </a:solidFill>
            <a:prstDash val="solid"/>
          </a:ln>
        </p:spPr>
        <p:txBody>
          <a:bodyPr/>
          <a:lstStyle/>
          <a:p>
            <a:endParaRPr lang="en-US"/>
          </a:p>
        </p:txBody>
      </p:sp>
      <p:sp>
        <p:nvSpPr>
          <p:cNvPr id="10" name="Text 7"/>
          <p:cNvSpPr/>
          <p:nvPr/>
        </p:nvSpPr>
        <p:spPr>
          <a:xfrm>
            <a:off x="1737360" y="2862072"/>
            <a:ext cx="1280160" cy="411480"/>
          </a:xfrm>
          <a:prstGeom prst="rect">
            <a:avLst/>
          </a:prstGeom>
          <a:noFill/>
          <a:ln/>
        </p:spPr>
        <p:txBody>
          <a:bodyPr wrap="square" lIns="0" tIns="0" rIns="0" bIns="0" rtlCol="0" anchor="ctr"/>
          <a:lstStyle/>
          <a:p>
            <a:pPr marL="0" indent="0" algn="ctr">
              <a:buNone/>
            </a:pPr>
            <a:r>
              <a:rPr lang="en-US" sz="1800" b="1" dirty="0">
                <a:solidFill>
                  <a:srgbClr val="1A7A6A"/>
                </a:solidFill>
                <a:latin typeface="Georgia" pitchFamily="34" charset="0"/>
                <a:ea typeface="Georgia" pitchFamily="34" charset="-122"/>
                <a:cs typeface="Georgia" pitchFamily="34" charset="-120"/>
              </a:rPr>
              <a:t>+5.5%</a:t>
            </a:r>
            <a:endParaRPr lang="en-US" sz="1800" dirty="0"/>
          </a:p>
        </p:txBody>
      </p:sp>
      <p:sp>
        <p:nvSpPr>
          <p:cNvPr id="11" name="Text 8"/>
          <p:cNvSpPr/>
          <p:nvPr/>
        </p:nvSpPr>
        <p:spPr>
          <a:xfrm>
            <a:off x="1737360" y="3264408"/>
            <a:ext cx="1280160" cy="347472"/>
          </a:xfrm>
          <a:prstGeom prst="rect">
            <a:avLst/>
          </a:prstGeom>
          <a:noFill/>
          <a:ln/>
        </p:spPr>
        <p:txBody>
          <a:bodyPr wrap="square" lIns="0" tIns="0" rIns="0" bIns="0" rtlCol="0" anchor="ctr"/>
          <a:lstStyle/>
          <a:p>
            <a:pPr marL="0" indent="0" algn="ctr">
              <a:buNone/>
            </a:pPr>
            <a:r>
              <a:rPr lang="en-US" sz="900" dirty="0">
                <a:solidFill>
                  <a:srgbClr val="7A9E99"/>
                </a:solidFill>
                <a:latin typeface="Calibri" pitchFamily="34" charset="0"/>
                <a:ea typeface="Calibri" pitchFamily="34" charset="-122"/>
                <a:cs typeface="Calibri" pitchFamily="34" charset="-120"/>
              </a:rPr>
              <a:t>PR-AUC gain</a:t>
            </a:r>
            <a:endParaRPr lang="en-US" sz="900" dirty="0"/>
          </a:p>
          <a:p>
            <a:pPr marL="0" indent="0" algn="ctr">
              <a:buNone/>
            </a:pPr>
            <a:r>
              <a:rPr lang="en-US" sz="900" dirty="0">
                <a:solidFill>
                  <a:srgbClr val="7A9E99"/>
                </a:solidFill>
                <a:latin typeface="Calibri" pitchFamily="34" charset="0"/>
                <a:ea typeface="Calibri" pitchFamily="34" charset="-122"/>
                <a:cs typeface="Calibri" pitchFamily="34" charset="-120"/>
              </a:rPr>
              <a:t>LR → MLP</a:t>
            </a:r>
            <a:endParaRPr lang="en-US" sz="900" dirty="0"/>
          </a:p>
        </p:txBody>
      </p:sp>
      <p:sp>
        <p:nvSpPr>
          <p:cNvPr id="12" name="Shape 9"/>
          <p:cNvSpPr/>
          <p:nvPr/>
        </p:nvSpPr>
        <p:spPr>
          <a:xfrm>
            <a:off x="3154680" y="2834640"/>
            <a:ext cx="1280160" cy="822960"/>
          </a:xfrm>
          <a:prstGeom prst="rect">
            <a:avLst/>
          </a:prstGeom>
          <a:solidFill>
            <a:srgbClr val="0F2A25"/>
          </a:solidFill>
          <a:ln w="3810">
            <a:solidFill>
              <a:srgbClr val="1A3A35"/>
            </a:solidFill>
            <a:prstDash val="solid"/>
          </a:ln>
        </p:spPr>
        <p:txBody>
          <a:bodyPr/>
          <a:lstStyle/>
          <a:p>
            <a:endParaRPr lang="en-US"/>
          </a:p>
        </p:txBody>
      </p:sp>
      <p:sp>
        <p:nvSpPr>
          <p:cNvPr id="13" name="Text 10"/>
          <p:cNvSpPr/>
          <p:nvPr/>
        </p:nvSpPr>
        <p:spPr>
          <a:xfrm>
            <a:off x="3154680" y="2862072"/>
            <a:ext cx="1280160" cy="411480"/>
          </a:xfrm>
          <a:prstGeom prst="rect">
            <a:avLst/>
          </a:prstGeom>
          <a:noFill/>
          <a:ln/>
        </p:spPr>
        <p:txBody>
          <a:bodyPr wrap="square" lIns="0" tIns="0" rIns="0" bIns="0" rtlCol="0" anchor="ctr"/>
          <a:lstStyle/>
          <a:p>
            <a:pPr marL="0" indent="0" algn="ctr">
              <a:buNone/>
            </a:pPr>
            <a:r>
              <a:rPr lang="en-US" sz="1800" b="1" dirty="0">
                <a:solidFill>
                  <a:srgbClr val="C0392B"/>
                </a:solidFill>
                <a:latin typeface="Georgia" pitchFamily="34" charset="0"/>
                <a:ea typeface="Georgia" pitchFamily="34" charset="-122"/>
                <a:cs typeface="Georgia" pitchFamily="34" charset="-120"/>
              </a:rPr>
              <a:t>0.658</a:t>
            </a:r>
            <a:endParaRPr lang="en-US" sz="1800" dirty="0"/>
          </a:p>
        </p:txBody>
      </p:sp>
      <p:sp>
        <p:nvSpPr>
          <p:cNvPr id="14" name="Text 11"/>
          <p:cNvSpPr/>
          <p:nvPr/>
        </p:nvSpPr>
        <p:spPr>
          <a:xfrm>
            <a:off x="3154680" y="3264408"/>
            <a:ext cx="1280160" cy="347472"/>
          </a:xfrm>
          <a:prstGeom prst="rect">
            <a:avLst/>
          </a:prstGeom>
          <a:noFill/>
          <a:ln/>
        </p:spPr>
        <p:txBody>
          <a:bodyPr wrap="square" lIns="0" tIns="0" rIns="0" bIns="0" rtlCol="0" anchor="ctr"/>
          <a:lstStyle/>
          <a:p>
            <a:pPr marL="0" indent="0" algn="ctr">
              <a:buNone/>
            </a:pPr>
            <a:r>
              <a:rPr lang="en-US" sz="900" dirty="0">
                <a:solidFill>
                  <a:srgbClr val="7A9E99"/>
                </a:solidFill>
                <a:latin typeface="Calibri" pitchFamily="34" charset="0"/>
                <a:ea typeface="Calibri" pitchFamily="34" charset="-122"/>
                <a:cs typeface="Calibri" pitchFamily="34" charset="-120"/>
              </a:rPr>
              <a:t>1-ch CNN</a:t>
            </a:r>
            <a:endParaRPr lang="en-US" sz="900" dirty="0"/>
          </a:p>
          <a:p>
            <a:pPr marL="0" indent="0" algn="ctr">
              <a:buNone/>
            </a:pPr>
            <a:r>
              <a:rPr lang="en-US" sz="900" dirty="0">
                <a:solidFill>
                  <a:srgbClr val="7A9E99"/>
                </a:solidFill>
                <a:latin typeface="Calibri" pitchFamily="34" charset="0"/>
                <a:ea typeface="Calibri" pitchFamily="34" charset="-122"/>
                <a:cs typeface="Calibri" pitchFamily="34" charset="-120"/>
              </a:rPr>
              <a:t>(worst model)</a:t>
            </a:r>
            <a:endParaRPr lang="en-US" sz="900" dirty="0"/>
          </a:p>
        </p:txBody>
      </p:sp>
      <p:sp>
        <p:nvSpPr>
          <p:cNvPr id="15" name="Text 12"/>
          <p:cNvSpPr/>
          <p:nvPr/>
        </p:nvSpPr>
        <p:spPr>
          <a:xfrm>
            <a:off x="4663440" y="868680"/>
            <a:ext cx="4160520" cy="274320"/>
          </a:xfrm>
          <a:prstGeom prst="rect">
            <a:avLst/>
          </a:prstGeom>
          <a:noFill/>
          <a:ln/>
        </p:spPr>
        <p:txBody>
          <a:bodyPr wrap="square" lIns="0" tIns="0" rIns="0" bIns="0" rtlCol="0" anchor="ctr"/>
          <a:lstStyle/>
          <a:p>
            <a:pPr marL="0" indent="0">
              <a:buNone/>
            </a:pPr>
            <a:r>
              <a:rPr lang="en-US" sz="1000" b="1" dirty="0">
                <a:solidFill>
                  <a:srgbClr val="7A9E99"/>
                </a:solidFill>
                <a:latin typeface="Calibri" pitchFamily="34" charset="0"/>
                <a:ea typeface="Calibri" pitchFamily="34" charset="-122"/>
                <a:cs typeface="Calibri" pitchFamily="34" charset="-120"/>
              </a:rPr>
              <a:t>Learned spatial goal probability map</a:t>
            </a:r>
            <a:endParaRPr lang="en-US" sz="1000" dirty="0"/>
          </a:p>
        </p:txBody>
      </p:sp>
      <p:pic>
        <p:nvPicPr>
          <p:cNvPr id="16" name="Image 1" descr="preencoded.png"/>
          <p:cNvPicPr>
            <a:picLocks noChangeAspect="1"/>
          </p:cNvPicPr>
          <p:nvPr/>
        </p:nvPicPr>
        <p:blipFill>
          <a:blip r:embed="rId4"/>
          <a:srcRect/>
          <a:stretch/>
        </p:blipFill>
        <p:spPr>
          <a:xfrm>
            <a:off x="4663440" y="1143000"/>
            <a:ext cx="4160520" cy="2432304"/>
          </a:xfrm>
          <a:prstGeom prst="rect">
            <a:avLst/>
          </a:prstGeom>
        </p:spPr>
      </p:pic>
      <p:sp>
        <p:nvSpPr>
          <p:cNvPr id="17" name="Text 13"/>
          <p:cNvSpPr/>
          <p:nvPr/>
        </p:nvSpPr>
        <p:spPr>
          <a:xfrm>
            <a:off x="4663440" y="3657600"/>
            <a:ext cx="4160520" cy="1280160"/>
          </a:xfrm>
          <a:prstGeom prst="rect">
            <a:avLst/>
          </a:prstGeom>
          <a:noFill/>
          <a:ln/>
        </p:spPr>
        <p:txBody>
          <a:bodyPr wrap="square" lIns="0" tIns="0" rIns="0" bIns="0" rtlCol="0" anchor="t"/>
          <a:lstStyle/>
          <a:p>
            <a:pPr marL="0" indent="0">
              <a:buNone/>
            </a:pPr>
            <a:r>
              <a:rPr lang="en-US" sz="1150" i="1" dirty="0">
                <a:solidFill>
                  <a:srgbClr val="7A9E99"/>
                </a:solidFill>
                <a:latin typeface="Calibri" pitchFamily="34" charset="0"/>
                <a:ea typeface="Calibri" pitchFamily="34" charset="-122"/>
                <a:cs typeface="Calibri" pitchFamily="34" charset="-120"/>
              </a:rPr>
              <a:t>The CNN independently learned that the slot region (center-front) is the highest danger zone — without being told where the slot is. This validates the spatial encoding and confirms the model learned real hockey geometry.</a:t>
            </a:r>
            <a:endParaRPr lang="en-US" sz="1150" dirty="0"/>
          </a:p>
        </p:txBody>
      </p:sp>
      <p:sp>
        <p:nvSpPr>
          <p:cNvPr id="18" name="Shape 14"/>
          <p:cNvSpPr/>
          <p:nvPr/>
        </p:nvSpPr>
        <p:spPr>
          <a:xfrm>
            <a:off x="4462272" y="868680"/>
            <a:ext cx="27432" cy="4023360"/>
          </a:xfrm>
          <a:prstGeom prst="rect">
            <a:avLst/>
          </a:prstGeom>
          <a:solidFill>
            <a:srgbClr val="1A3A35"/>
          </a:solidFill>
          <a:ln w="12700">
            <a:solidFill>
              <a:srgbClr val="1A3A35"/>
            </a:solidFill>
            <a:prstDash val="solid"/>
          </a:ln>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2F5F4"/>
        </a:solidFill>
        <a:effectLst/>
      </p:bgPr>
    </p:bg>
    <p:spTree>
      <p:nvGrpSpPr>
        <p:cNvPr id="1" name=""/>
        <p:cNvGrpSpPr/>
        <p:nvPr/>
      </p:nvGrpSpPr>
      <p:grpSpPr>
        <a:xfrm>
          <a:off x="0" y="0"/>
          <a:ext cx="0" cy="0"/>
          <a:chOff x="0" y="0"/>
          <a:chExt cx="0" cy="0"/>
        </a:xfrm>
      </p:grpSpPr>
      <p:sp>
        <p:nvSpPr>
          <p:cNvPr id="16" name="Shape 2">
            <a:extLst>
              <a:ext uri="{FF2B5EF4-FFF2-40B4-BE49-F238E27FC236}">
                <a16:creationId xmlns:a16="http://schemas.microsoft.com/office/drawing/2014/main" id="{E6F2D5B9-9BCC-A6F7-DE74-FBC907039CC8}"/>
              </a:ext>
            </a:extLst>
          </p:cNvPr>
          <p:cNvSpPr/>
          <p:nvPr/>
        </p:nvSpPr>
        <p:spPr>
          <a:xfrm>
            <a:off x="502920" y="3498183"/>
            <a:ext cx="8229600" cy="931482"/>
          </a:xfrm>
          <a:prstGeom prst="rect">
            <a:avLst/>
          </a:prstGeom>
          <a:solidFill>
            <a:srgbClr val="E8F4F2"/>
          </a:solidFill>
          <a:ln w="381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5" name="Shape 2">
            <a:extLst>
              <a:ext uri="{FF2B5EF4-FFF2-40B4-BE49-F238E27FC236}">
                <a16:creationId xmlns:a16="http://schemas.microsoft.com/office/drawing/2014/main" id="{09BCBF02-083E-1767-5ACE-0A0DD467CF20}"/>
              </a:ext>
            </a:extLst>
          </p:cNvPr>
          <p:cNvSpPr/>
          <p:nvPr/>
        </p:nvSpPr>
        <p:spPr>
          <a:xfrm>
            <a:off x="502920" y="2330514"/>
            <a:ext cx="8229600" cy="931482"/>
          </a:xfrm>
          <a:prstGeom prst="rect">
            <a:avLst/>
          </a:prstGeom>
          <a:solidFill>
            <a:srgbClr val="E8F4F2"/>
          </a:solidFill>
          <a:ln w="381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14" name="Shape 2">
            <a:extLst>
              <a:ext uri="{FF2B5EF4-FFF2-40B4-BE49-F238E27FC236}">
                <a16:creationId xmlns:a16="http://schemas.microsoft.com/office/drawing/2014/main" id="{3C044E9D-9D17-6D6D-6471-5B25F8E3A5C4}"/>
              </a:ext>
            </a:extLst>
          </p:cNvPr>
          <p:cNvSpPr/>
          <p:nvPr/>
        </p:nvSpPr>
        <p:spPr>
          <a:xfrm>
            <a:off x="502920" y="1188720"/>
            <a:ext cx="8229600" cy="931482"/>
          </a:xfrm>
          <a:prstGeom prst="rect">
            <a:avLst/>
          </a:prstGeom>
          <a:solidFill>
            <a:srgbClr val="E8F4F2"/>
          </a:solidFill>
          <a:ln w="3810">
            <a:solidFill>
              <a:srgbClr val="DDEAE8"/>
            </a:solidFill>
            <a:prstDash val="solid"/>
          </a:ln>
          <a:effectLst>
            <a:outerShdw blurRad="127000" dist="50800" dir="8100000" algn="bl" rotWithShape="0">
              <a:srgbClr val="000000">
                <a:alpha val="12000"/>
              </a:srgbClr>
            </a:outerShdw>
          </a:effectLst>
        </p:spPr>
        <p:txBody>
          <a:bodyPr/>
          <a:lstStyle/>
          <a:p>
            <a:endParaRPr lang="en-US"/>
          </a:p>
        </p:txBody>
      </p:sp>
      <p:sp>
        <p:nvSpPr>
          <p:cNvPr id="3" name="Text 1"/>
          <p:cNvSpPr/>
          <p:nvPr/>
        </p:nvSpPr>
        <p:spPr>
          <a:xfrm>
            <a:off x="411480" y="320040"/>
            <a:ext cx="8229600" cy="658368"/>
          </a:xfrm>
          <a:prstGeom prst="rect">
            <a:avLst/>
          </a:prstGeom>
          <a:noFill/>
          <a:ln/>
        </p:spPr>
        <p:txBody>
          <a:bodyPr wrap="square" lIns="0" tIns="0" rIns="0" bIns="0" rtlCol="0" anchor="ctr"/>
          <a:lstStyle/>
          <a:p>
            <a:pPr marL="0" indent="0">
              <a:buNone/>
            </a:pPr>
            <a:r>
              <a:rPr lang="en-US" sz="3400" b="1" dirty="0">
                <a:solidFill>
                  <a:srgbClr val="0A1F1A"/>
                </a:solidFill>
                <a:latin typeface="Georgia" pitchFamily="34" charset="0"/>
                <a:ea typeface="Georgia" pitchFamily="34" charset="-122"/>
                <a:cs typeface="Georgia" pitchFamily="34" charset="-120"/>
              </a:rPr>
              <a:t>Conclusions</a:t>
            </a:r>
            <a:endParaRPr lang="en-US" sz="3400" dirty="0">
              <a:solidFill>
                <a:srgbClr val="0A1F1A"/>
              </a:solidFill>
            </a:endParaRPr>
          </a:p>
        </p:txBody>
      </p:sp>
      <p:sp>
        <p:nvSpPr>
          <p:cNvPr id="4" name="Shape 2"/>
          <p:cNvSpPr/>
          <p:nvPr/>
        </p:nvSpPr>
        <p:spPr>
          <a:xfrm flipH="1">
            <a:off x="507441" y="1194248"/>
            <a:ext cx="109728" cy="914400"/>
          </a:xfrm>
          <a:prstGeom prst="rect">
            <a:avLst/>
          </a:prstGeom>
          <a:solidFill>
            <a:srgbClr val="1A7A6A"/>
          </a:solidFill>
          <a:ln w="12700">
            <a:solidFill>
              <a:srgbClr val="1A7A6A"/>
            </a:solidFill>
            <a:prstDash val="solid"/>
          </a:ln>
        </p:spPr>
        <p:txBody>
          <a:bodyPr/>
          <a:lstStyle/>
          <a:p>
            <a:endParaRPr lang="en-US"/>
          </a:p>
        </p:txBody>
      </p:sp>
      <p:sp>
        <p:nvSpPr>
          <p:cNvPr id="5" name="Text 3"/>
          <p:cNvSpPr/>
          <p:nvPr/>
        </p:nvSpPr>
        <p:spPr>
          <a:xfrm>
            <a:off x="850392" y="1188720"/>
            <a:ext cx="7973568" cy="384048"/>
          </a:xfrm>
          <a:prstGeom prst="rect">
            <a:avLst/>
          </a:prstGeom>
          <a:noFill/>
          <a:ln/>
        </p:spPr>
        <p:txBody>
          <a:bodyPr wrap="square" lIns="0" tIns="0" rIns="0" bIns="0" rtlCol="0" anchor="ctr"/>
          <a:lstStyle/>
          <a:p>
            <a:pPr marL="0" indent="0">
              <a:buNone/>
            </a:pPr>
            <a:r>
              <a:rPr lang="en-US" sz="1500" b="1" dirty="0">
                <a:solidFill>
                  <a:srgbClr val="1A7A6A"/>
                </a:solidFill>
                <a:latin typeface="Calibri" pitchFamily="34" charset="0"/>
                <a:ea typeface="Calibri" pitchFamily="34" charset="-122"/>
                <a:cs typeface="Calibri" pitchFamily="34" charset="-120"/>
              </a:rPr>
              <a:t>Representation matters more than architecture.</a:t>
            </a:r>
            <a:endParaRPr lang="en-US" sz="1500" dirty="0"/>
          </a:p>
        </p:txBody>
      </p:sp>
      <p:sp>
        <p:nvSpPr>
          <p:cNvPr id="6" name="Text 4"/>
          <p:cNvSpPr/>
          <p:nvPr/>
        </p:nvSpPr>
        <p:spPr>
          <a:xfrm>
            <a:off x="850392" y="1591056"/>
            <a:ext cx="7973568" cy="45720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The 1-channel CNN failed. The 3-channel CNN succeeded. Same network, different encoding. That's the most important finding.</a:t>
            </a:r>
            <a:endParaRPr lang="en-US" sz="1300" dirty="0">
              <a:solidFill>
                <a:srgbClr val="555555"/>
              </a:solidFill>
            </a:endParaRPr>
          </a:p>
        </p:txBody>
      </p:sp>
      <p:sp>
        <p:nvSpPr>
          <p:cNvPr id="7" name="Shape 5"/>
          <p:cNvSpPr/>
          <p:nvPr/>
        </p:nvSpPr>
        <p:spPr>
          <a:xfrm flipH="1">
            <a:off x="507441" y="2344584"/>
            <a:ext cx="109728" cy="914400"/>
          </a:xfrm>
          <a:prstGeom prst="rect">
            <a:avLst/>
          </a:prstGeom>
          <a:solidFill>
            <a:srgbClr val="1A7A6A"/>
          </a:solidFill>
          <a:ln w="12700">
            <a:solidFill>
              <a:srgbClr val="1A7A6A"/>
            </a:solidFill>
            <a:prstDash val="solid"/>
          </a:ln>
        </p:spPr>
        <p:txBody>
          <a:bodyPr/>
          <a:lstStyle/>
          <a:p>
            <a:endParaRPr lang="en-US"/>
          </a:p>
        </p:txBody>
      </p:sp>
      <p:sp>
        <p:nvSpPr>
          <p:cNvPr id="8" name="Text 6"/>
          <p:cNvSpPr/>
          <p:nvPr/>
        </p:nvSpPr>
        <p:spPr>
          <a:xfrm>
            <a:off x="850392" y="2359152"/>
            <a:ext cx="7973568" cy="384048"/>
          </a:xfrm>
          <a:prstGeom prst="rect">
            <a:avLst/>
          </a:prstGeom>
          <a:noFill/>
          <a:ln/>
        </p:spPr>
        <p:txBody>
          <a:bodyPr wrap="square" lIns="0" tIns="0" rIns="0" bIns="0" rtlCol="0" anchor="ctr"/>
          <a:lstStyle/>
          <a:p>
            <a:pPr marL="0" indent="0">
              <a:buNone/>
            </a:pPr>
            <a:r>
              <a:rPr lang="en-US" sz="1500" b="1" dirty="0">
                <a:solidFill>
                  <a:srgbClr val="1A7A6A"/>
                </a:solidFill>
                <a:latin typeface="Calibri" pitchFamily="34" charset="0"/>
                <a:ea typeface="Calibri" pitchFamily="34" charset="-122"/>
                <a:cs typeface="Calibri" pitchFamily="34" charset="-120"/>
              </a:rPr>
              <a:t>Deep learning doesn't automatically win.</a:t>
            </a:r>
            <a:endParaRPr lang="en-US" sz="1500" dirty="0"/>
          </a:p>
        </p:txBody>
      </p:sp>
      <p:sp>
        <p:nvSpPr>
          <p:cNvPr id="9" name="Text 7"/>
          <p:cNvSpPr/>
          <p:nvPr/>
        </p:nvSpPr>
        <p:spPr>
          <a:xfrm>
            <a:off x="850392" y="2761488"/>
            <a:ext cx="7973568" cy="45720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Logistic regression with two features hit ROC-AUC 0.709. The CNN needed significant work to surpass it, and the margin is modest.</a:t>
            </a:r>
            <a:endParaRPr lang="en-US" sz="1300" dirty="0">
              <a:solidFill>
                <a:srgbClr val="555555"/>
              </a:solidFill>
            </a:endParaRPr>
          </a:p>
        </p:txBody>
      </p:sp>
      <p:sp>
        <p:nvSpPr>
          <p:cNvPr id="10" name="Shape 8"/>
          <p:cNvSpPr/>
          <p:nvPr/>
        </p:nvSpPr>
        <p:spPr>
          <a:xfrm flipH="1">
            <a:off x="507441" y="3515016"/>
            <a:ext cx="109728" cy="914400"/>
          </a:xfrm>
          <a:prstGeom prst="rect">
            <a:avLst/>
          </a:prstGeom>
          <a:solidFill>
            <a:srgbClr val="1A7A6A"/>
          </a:solidFill>
          <a:ln w="12700">
            <a:solidFill>
              <a:srgbClr val="1A7A6A"/>
            </a:solidFill>
            <a:prstDash val="solid"/>
          </a:ln>
        </p:spPr>
        <p:txBody>
          <a:bodyPr/>
          <a:lstStyle/>
          <a:p>
            <a:endParaRPr lang="en-US"/>
          </a:p>
        </p:txBody>
      </p:sp>
      <p:sp>
        <p:nvSpPr>
          <p:cNvPr id="11" name="Text 9"/>
          <p:cNvSpPr/>
          <p:nvPr/>
        </p:nvSpPr>
        <p:spPr>
          <a:xfrm>
            <a:off x="850392" y="3529584"/>
            <a:ext cx="7973568" cy="384048"/>
          </a:xfrm>
          <a:prstGeom prst="rect">
            <a:avLst/>
          </a:prstGeom>
          <a:noFill/>
          <a:ln/>
        </p:spPr>
        <p:txBody>
          <a:bodyPr wrap="square" lIns="0" tIns="0" rIns="0" bIns="0" rtlCol="0" anchor="ctr"/>
          <a:lstStyle/>
          <a:p>
            <a:pPr marL="0" indent="0">
              <a:buNone/>
            </a:pPr>
            <a:r>
              <a:rPr lang="en-US" sz="1500" b="1" dirty="0">
                <a:solidFill>
                  <a:srgbClr val="1A7A6A"/>
                </a:solidFill>
                <a:latin typeface="Calibri" pitchFamily="34" charset="0"/>
                <a:ea typeface="Calibri" pitchFamily="34" charset="-122"/>
                <a:cs typeface="Calibri" pitchFamily="34" charset="-120"/>
              </a:rPr>
              <a:t>Spatial structure is real and learnable.</a:t>
            </a:r>
            <a:endParaRPr lang="en-US" sz="1500" dirty="0"/>
          </a:p>
        </p:txBody>
      </p:sp>
      <p:sp>
        <p:nvSpPr>
          <p:cNvPr id="12" name="Text 10"/>
          <p:cNvSpPr/>
          <p:nvPr/>
        </p:nvSpPr>
        <p:spPr>
          <a:xfrm>
            <a:off x="850392" y="3931920"/>
            <a:ext cx="7973568" cy="457200"/>
          </a:xfrm>
          <a:prstGeom prst="rect">
            <a:avLst/>
          </a:prstGeom>
          <a:noFill/>
          <a:ln/>
        </p:spPr>
        <p:txBody>
          <a:bodyPr wrap="square" lIns="0" tIns="0" rIns="0" bIns="0" rtlCol="0" anchor="ctr"/>
          <a:lstStyle/>
          <a:p>
            <a:pPr marL="0" indent="0">
              <a:buNone/>
            </a:pPr>
            <a:r>
              <a:rPr lang="en-US" sz="1300" dirty="0">
                <a:solidFill>
                  <a:srgbClr val="555555"/>
                </a:solidFill>
                <a:latin typeface="Calibri" pitchFamily="34" charset="0"/>
                <a:ea typeface="Calibri" pitchFamily="34" charset="-122"/>
                <a:cs typeface="Calibri" pitchFamily="34" charset="-120"/>
              </a:rPr>
              <a:t>The CNN's learned probability heatmap matches known hockey principles: slot shots are most dangerous, perimeter shots least. It found that geometry without being told.</a:t>
            </a:r>
            <a:endParaRPr lang="en-US" sz="1300" dirty="0">
              <a:solidFill>
                <a:srgbClr val="555555"/>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1062</Words>
  <Application>Microsoft Macintosh PowerPoint</Application>
  <PresentationFormat>On-screen Show (16:9)</PresentationFormat>
  <Paragraphs>177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NHL Goal Prediction</dc:title>
  <dc:subject>PptxGenJS Presentation</dc:subject>
  <dc:creator>PptxGenJS</dc:creator>
  <cp:lastModifiedBy>Cailin Klein</cp:lastModifiedBy>
  <cp:revision>3</cp:revision>
  <dcterms:created xsi:type="dcterms:W3CDTF">2026-03-03T09:19:03Z</dcterms:created>
  <dcterms:modified xsi:type="dcterms:W3CDTF">2026-03-03T18:35:59Z</dcterms:modified>
</cp:coreProperties>
</file>